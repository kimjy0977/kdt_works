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813"/>
        </a:solidFill>
      </p:bgPr>
    </p:bg>
    <p:spTree>
      <p:nvGrpSpPr>
        <p:cNvPr id="1" name=""/>
        <p:cNvGrpSpPr/>
        <p:nvPr/>
      </p:nvGrpSpPr>
      <p:grpSpPr>
        <a:xfrm>
          <a:off x="0" y="0"/>
          <a:ext cx="0" cy="0"/>
          <a:chOff x="0" y="0"/>
          <a:chExt cx="0" cy="0"/>
        </a:xfrm>
      </p:grpSpPr>
      <p:sp>
        <p:nvSpPr>
          <p:cNvPr id="2" name="Text 0"/>
          <p:cNvSpPr/>
          <p:nvPr/>
        </p:nvSpPr>
        <p:spPr>
          <a:xfrm>
            <a:off x="566928" y="4617720"/>
            <a:ext cx="11064240" cy="1645920"/>
          </a:xfrm>
          <a:prstGeom prst="rect">
            <a:avLst/>
          </a:prstGeom>
          <a:noFill/>
          <a:ln/>
        </p:spPr>
        <p:txBody>
          <a:bodyPr wrap="square" rtlCol="0" anchor="ctr"/>
          <a:lstStyle/>
          <a:p>
            <a:pPr indent="0" marL="0">
              <a:buNone/>
            </a:pPr>
            <a:r>
              <a:rPr lang="en-US" sz="7300" b="1" spc="200" kern="0" dirty="0">
                <a:solidFill>
                  <a:srgbClr val="221E1A"/>
                </a:solidFill>
                <a:latin typeface="Noto Sans KR" pitchFamily="34" charset="0"/>
                <a:ea typeface="Noto Sans KR" pitchFamily="34" charset="-122"/>
                <a:cs typeface="Noto Sans KR" pitchFamily="34" charset="-120"/>
              </a:rPr>
              <a:t>TRANSFORMER</a:t>
            </a:r>
            <a:endParaRPr lang="en-US" sz="7300" dirty="0"/>
          </a:p>
        </p:txBody>
      </p:sp>
      <p:sp>
        <p:nvSpPr>
          <p:cNvPr id="3" name="Shape 1"/>
          <p:cNvSpPr/>
          <p:nvPr/>
        </p:nvSpPr>
        <p:spPr>
          <a:xfrm>
            <a:off x="566928" y="548640"/>
            <a:ext cx="118872" cy="118872"/>
          </a:xfrm>
          <a:prstGeom prst="rect">
            <a:avLst/>
          </a:prstGeom>
          <a:solidFill>
            <a:srgbClr val="FF6B74"/>
          </a:solidFill>
          <a:ln/>
        </p:spPr>
      </p:sp>
      <p:sp>
        <p:nvSpPr>
          <p:cNvPr id="4" name="Text 2"/>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FF6B74"/>
                </a:solidFill>
                <a:latin typeface="Noto Sans KR" pitchFamily="34" charset="0"/>
                <a:ea typeface="Noto Sans KR" pitchFamily="34" charset="-122"/>
                <a:cs typeface="Noto Sans KR" pitchFamily="34" charset="-120"/>
              </a:rPr>
              <a:t>교육 발표 · 티처팀</a:t>
            </a:r>
            <a:endParaRPr lang="en-US" sz="1150" dirty="0"/>
          </a:p>
        </p:txBody>
      </p:sp>
      <p:sp>
        <p:nvSpPr>
          <p:cNvPr id="5" name="Text 3"/>
          <p:cNvSpPr/>
          <p:nvPr/>
        </p:nvSpPr>
        <p:spPr>
          <a:xfrm>
            <a:off x="566928" y="2084832"/>
            <a:ext cx="10972800" cy="1188720"/>
          </a:xfrm>
          <a:prstGeom prst="rect">
            <a:avLst/>
          </a:prstGeom>
          <a:noFill/>
          <a:ln/>
        </p:spPr>
        <p:txBody>
          <a:bodyPr wrap="square" rtlCol="0" anchor="ctr"/>
          <a:lstStyle/>
          <a:p>
            <a:pPr indent="0" marL="0">
              <a:buNone/>
            </a:pPr>
            <a:r>
              <a:rPr lang="en-US" sz="5400" b="1" dirty="0">
                <a:solidFill>
                  <a:srgbClr val="FFFFFF"/>
                </a:solidFill>
                <a:latin typeface="Noto Sans KR" pitchFamily="34" charset="0"/>
                <a:ea typeface="Noto Sans KR" pitchFamily="34" charset="-122"/>
                <a:cs typeface="Noto Sans KR" pitchFamily="34" charset="-120"/>
              </a:rPr>
              <a:t>어텐션과 트랜스포머</a:t>
            </a:r>
            <a:endParaRPr lang="en-US" sz="5400" dirty="0"/>
          </a:p>
        </p:txBody>
      </p:sp>
      <p:sp>
        <p:nvSpPr>
          <p:cNvPr id="6" name="Text 4"/>
          <p:cNvSpPr/>
          <p:nvPr/>
        </p:nvSpPr>
        <p:spPr>
          <a:xfrm>
            <a:off x="566928" y="3429000"/>
            <a:ext cx="10515600" cy="548640"/>
          </a:xfrm>
          <a:prstGeom prst="rect">
            <a:avLst/>
          </a:prstGeom>
          <a:noFill/>
          <a:ln/>
        </p:spPr>
        <p:txBody>
          <a:bodyPr wrap="square" rtlCol="0" anchor="ctr"/>
          <a:lstStyle/>
          <a:p>
            <a:pPr indent="0" marL="0">
              <a:buNone/>
            </a:pPr>
            <a:r>
              <a:rPr lang="en-US" sz="1800" dirty="0">
                <a:solidFill>
                  <a:srgbClr val="C9C3B8"/>
                </a:solidFill>
                <a:latin typeface="Noto Sans KR" pitchFamily="34" charset="0"/>
                <a:ea typeface="Noto Sans KR" pitchFamily="34" charset="-122"/>
                <a:cs typeface="Noto Sans KR" pitchFamily="34" charset="-120"/>
              </a:rPr>
              <a:t>지금의 AI들이 공통으로 쓰는 뼈대는 2017년 논문 한 편에서 시작됐습니다.</a:t>
            </a:r>
            <a:endParaRPr lang="en-US" sz="1800" dirty="0"/>
          </a:p>
        </p:txBody>
      </p:sp>
      <p:sp>
        <p:nvSpPr>
          <p:cNvPr id="7" name="Text 5"/>
          <p:cNvSpPr/>
          <p:nvPr/>
        </p:nvSpPr>
        <p:spPr>
          <a:xfrm>
            <a:off x="566928" y="4069080"/>
            <a:ext cx="10515600" cy="457200"/>
          </a:xfrm>
          <a:prstGeom prst="rect">
            <a:avLst/>
          </a:prstGeom>
          <a:noFill/>
          <a:ln/>
        </p:spPr>
        <p:txBody>
          <a:bodyPr wrap="square" rtlCol="0" anchor="ctr"/>
          <a:lstStyle/>
          <a:p>
            <a:pPr indent="0" marL="0">
              <a:buNone/>
            </a:pPr>
            <a:r>
              <a:rPr lang="en-US" sz="1500" i="1" dirty="0">
                <a:solidFill>
                  <a:srgbClr val="FF6B74"/>
                </a:solidFill>
                <a:latin typeface="Noto Sans KR" pitchFamily="34" charset="0"/>
                <a:ea typeface="Noto Sans KR" pitchFamily="34" charset="-122"/>
                <a:cs typeface="Noto Sans KR" pitchFamily="34" charset="-120"/>
              </a:rPr>
              <a:t>약속 — 어려운 수학은 쓰지 않습니다. 그림과 비유로만 설명합니다.</a:t>
            </a:r>
            <a:endParaRPr lang="en-US" sz="1500" dirty="0"/>
          </a:p>
        </p:txBody>
      </p:sp>
      <p:sp>
        <p:nvSpPr>
          <p:cNvPr id="8" name="Text 6"/>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6E6A62"/>
                </a:solidFill>
                <a:latin typeface="Noto Sans KR" pitchFamily="34" charset="0"/>
                <a:ea typeface="Noto Sans KR" pitchFamily="34" charset="-122"/>
                <a:cs typeface="Noto Sans KR" pitchFamily="34" charset="-120"/>
              </a:rPr>
              <a:t>정충원 · 전세환 · 김주영 · Q&amp;A로 마무리</a:t>
            </a:r>
            <a:endParaRPr lang="en-US" sz="950" dirty="0"/>
          </a:p>
        </p:txBody>
      </p:sp>
      <p:sp>
        <p:nvSpPr>
          <p:cNvPr id="9" name="Text 7"/>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FF6B74"/>
                </a:solidFill>
                <a:latin typeface="Noto Sans KR" pitchFamily="34" charset="0"/>
                <a:ea typeface="Noto Sans KR" pitchFamily="34" charset="-122"/>
                <a:cs typeface="Noto Sans KR" pitchFamily="34" charset="-120"/>
              </a:rPr>
              <a:t>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813"/>
        </a:solidFill>
      </p:bgPr>
    </p:bg>
    <p:spTree>
      <p:nvGrpSpPr>
        <p:cNvPr id="1" name=""/>
        <p:cNvGrpSpPr/>
        <p:nvPr/>
      </p:nvGrpSpPr>
      <p:grpSpPr>
        <a:xfrm>
          <a:off x="0" y="0"/>
          <a:ext cx="0" cy="0"/>
          <a:chOff x="0" y="0"/>
          <a:chExt cx="0" cy="0"/>
        </a:xfrm>
      </p:grpSpPr>
      <p:sp>
        <p:nvSpPr>
          <p:cNvPr id="2" name="Text 0"/>
          <p:cNvSpPr/>
          <p:nvPr/>
        </p:nvSpPr>
        <p:spPr>
          <a:xfrm>
            <a:off x="7772400" y="182880"/>
            <a:ext cx="4114800" cy="5943600"/>
          </a:xfrm>
          <a:prstGeom prst="rect">
            <a:avLst/>
          </a:prstGeom>
          <a:noFill/>
          <a:ln/>
        </p:spPr>
        <p:txBody>
          <a:bodyPr wrap="square" rtlCol="0" anchor="t"/>
          <a:lstStyle/>
          <a:p>
            <a:pPr algn="r" indent="0" marL="0">
              <a:buNone/>
            </a:pPr>
            <a:r>
              <a:rPr lang="en-US" sz="30000" b="1" dirty="0">
                <a:solidFill>
                  <a:srgbClr val="221E1A"/>
                </a:solidFill>
                <a:latin typeface="Noto Sans KR" pitchFamily="34" charset="0"/>
                <a:ea typeface="Noto Sans KR" pitchFamily="34" charset="-122"/>
                <a:cs typeface="Noto Sans KR" pitchFamily="34" charset="-120"/>
              </a:rPr>
              <a:t>1</a:t>
            </a:r>
            <a:endParaRPr lang="en-US" sz="30000" dirty="0"/>
          </a:p>
        </p:txBody>
      </p:sp>
      <p:sp>
        <p:nvSpPr>
          <p:cNvPr id="3" name="Shape 1"/>
          <p:cNvSpPr/>
          <p:nvPr/>
        </p:nvSpPr>
        <p:spPr>
          <a:xfrm>
            <a:off x="566928" y="548640"/>
            <a:ext cx="118872" cy="118872"/>
          </a:xfrm>
          <a:prstGeom prst="rect">
            <a:avLst/>
          </a:prstGeom>
          <a:solidFill>
            <a:srgbClr val="FF6B74"/>
          </a:solidFill>
          <a:ln/>
        </p:spPr>
      </p:sp>
      <p:sp>
        <p:nvSpPr>
          <p:cNvPr id="4" name="Text 2"/>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FF6B74"/>
                </a:solidFill>
                <a:latin typeface="Noto Sans KR" pitchFamily="34" charset="0"/>
                <a:ea typeface="Noto Sans KR" pitchFamily="34" charset="-122"/>
                <a:cs typeface="Noto Sans KR" pitchFamily="34" charset="-120"/>
              </a:rPr>
              <a:t>PART 1</a:t>
            </a:r>
            <a:endParaRPr lang="en-US" sz="1150" dirty="0"/>
          </a:p>
        </p:txBody>
      </p:sp>
      <p:sp>
        <p:nvSpPr>
          <p:cNvPr id="5" name="Text 3"/>
          <p:cNvSpPr/>
          <p:nvPr/>
        </p:nvSpPr>
        <p:spPr>
          <a:xfrm>
            <a:off x="566928" y="2331720"/>
            <a:ext cx="7406640" cy="1600200"/>
          </a:xfrm>
          <a:prstGeom prst="rect">
            <a:avLst/>
          </a:prstGeom>
          <a:noFill/>
          <a:ln/>
        </p:spPr>
        <p:txBody>
          <a:bodyPr wrap="square" rtlCol="0" anchor="t"/>
          <a:lstStyle/>
          <a:p>
            <a:pPr indent="0" marL="0">
              <a:lnSpc>
                <a:spcPts val="4000"/>
              </a:lnSpc>
              <a:buNone/>
            </a:pPr>
            <a:r>
              <a:rPr lang="en-US" sz="3200" b="1" dirty="0">
                <a:solidFill>
                  <a:srgbClr val="FFFFFF"/>
                </a:solidFill>
                <a:latin typeface="Noto Sans KR" pitchFamily="34" charset="0"/>
                <a:ea typeface="Noto Sans KR" pitchFamily="34" charset="-122"/>
                <a:cs typeface="Noto Sans KR" pitchFamily="34" charset="-120"/>
              </a:rPr>
              <a:t>혁신의 시작 — 등장 · 병렬, 그리고 어텐션의 기초</a:t>
            </a:r>
            <a:endParaRPr lang="en-US" sz="3200" dirty="0"/>
          </a:p>
        </p:txBody>
      </p:sp>
      <p:sp>
        <p:nvSpPr>
          <p:cNvPr id="6" name="Text 4"/>
          <p:cNvSpPr/>
          <p:nvPr/>
        </p:nvSpPr>
        <p:spPr>
          <a:xfrm>
            <a:off x="566928" y="4069080"/>
            <a:ext cx="7132320" cy="457200"/>
          </a:xfrm>
          <a:prstGeom prst="rect">
            <a:avLst/>
          </a:prstGeom>
          <a:noFill/>
          <a:ln/>
        </p:spPr>
        <p:txBody>
          <a:bodyPr wrap="square" rtlCol="0" anchor="ctr"/>
          <a:lstStyle/>
          <a:p>
            <a:pPr indent="0" marL="0">
              <a:buNone/>
            </a:pPr>
            <a:r>
              <a:rPr lang="en-US" sz="1800" b="1" dirty="0">
                <a:solidFill>
                  <a:srgbClr val="FF6B74"/>
                </a:solidFill>
                <a:latin typeface="Noto Sans KR" pitchFamily="34" charset="0"/>
                <a:ea typeface="Noto Sans KR" pitchFamily="34" charset="-122"/>
                <a:cs typeface="Noto Sans KR" pitchFamily="34" charset="-120"/>
              </a:rPr>
              <a:t>발표자 정충원</a:t>
            </a:r>
            <a:endParaRPr lang="en-US" sz="1800" dirty="0"/>
          </a:p>
        </p:txBody>
      </p:sp>
      <p:sp>
        <p:nvSpPr>
          <p:cNvPr id="7" name="Text 5"/>
          <p:cNvSpPr/>
          <p:nvPr/>
        </p:nvSpPr>
        <p:spPr>
          <a:xfrm>
            <a:off x="566928" y="4709160"/>
            <a:ext cx="7315200" cy="1188720"/>
          </a:xfrm>
          <a:prstGeom prst="rect">
            <a:avLst/>
          </a:prstGeom>
          <a:noFill/>
          <a:ln/>
        </p:spPr>
        <p:txBody>
          <a:bodyPr wrap="square" rtlCol="0" anchor="t"/>
          <a:lstStyle/>
          <a:p>
            <a:pPr indent="0" marL="0">
              <a:lnSpc>
                <a:spcPts val="2200"/>
              </a:lnSpc>
              <a:buNone/>
            </a:pPr>
            <a:r>
              <a:rPr lang="en-US" sz="1400" dirty="0">
                <a:solidFill>
                  <a:srgbClr val="C9C3B8"/>
                </a:solidFill>
                <a:latin typeface="Noto Sans KR" pitchFamily="34" charset="0"/>
                <a:ea typeface="Noto Sans KR" pitchFamily="34" charset="-122"/>
                <a:cs typeface="Noto Sans KR" pitchFamily="34" charset="-120"/>
              </a:rPr>
              <a:t>순차의 벽 · Attention Is All You Need · 병렬 처리 · 어텐션이란 · 도서관 Q·K·V · 4단계</a:t>
            </a:r>
            <a:endParaRPr lang="en-US" sz="1400" dirty="0"/>
          </a:p>
        </p:txBody>
      </p:sp>
      <p:sp>
        <p:nvSpPr>
          <p:cNvPr id="8" name="Text 6"/>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6E6A62"/>
                </a:solidFill>
                <a:latin typeface="Noto Sans KR" pitchFamily="34" charset="0"/>
                <a:ea typeface="Noto Sans KR" pitchFamily="34" charset="-122"/>
                <a:cs typeface="Noto Sans KR" pitchFamily="34" charset="-120"/>
              </a:rPr>
              <a:t>티처팀 · 트랜스포머 발표</a:t>
            </a:r>
            <a:endParaRPr lang="en-US" sz="950" dirty="0"/>
          </a:p>
        </p:txBody>
      </p:sp>
      <p:sp>
        <p:nvSpPr>
          <p:cNvPr id="9" name="Text 7"/>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FF6B74"/>
                </a:solidFill>
                <a:latin typeface="Noto Sans KR" pitchFamily="34" charset="0"/>
                <a:ea typeface="Noto Sans KR" pitchFamily="34" charset="-122"/>
                <a:cs typeface="Noto Sans K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발표 지도</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오늘 딱 두 가지 + 계속 나올 단어 셋</a:t>
            </a:r>
            <a:endParaRPr lang="en-US" sz="2800" dirty="0"/>
          </a:p>
        </p:txBody>
      </p:sp>
      <p:sp>
        <p:nvSpPr>
          <p:cNvPr id="5" name="Shape 3"/>
          <p:cNvSpPr/>
          <p:nvPr/>
        </p:nvSpPr>
        <p:spPr>
          <a:xfrm>
            <a:off x="566928" y="1965960"/>
            <a:ext cx="5385816" cy="1463040"/>
          </a:xfrm>
          <a:prstGeom prst="roundRect">
            <a:avLst>
              <a:gd name="adj" fmla="val 5625"/>
            </a:avLst>
          </a:prstGeom>
          <a:solidFill>
            <a:srgbClr val="FBE7E8"/>
          </a:solidFill>
          <a:ln w="15875">
            <a:solidFill>
              <a:srgbClr val="CE1225"/>
            </a:solidFill>
            <a:prstDash val="solid"/>
          </a:ln>
          <a:effectLst>
            <a:outerShdw sx="100000" sy="100000" kx="0" ky="0" algn="bl" rotWithShape="0" blurRad="88900" dist="38100" dir="5400000">
              <a:srgbClr val="6E6A62">
                <a:alpha val="18000"/>
              </a:srgbClr>
            </a:outerShdw>
          </a:effectLst>
        </p:spPr>
      </p:sp>
      <p:sp>
        <p:nvSpPr>
          <p:cNvPr id="6" name="Text 4"/>
          <p:cNvSpPr/>
          <p:nvPr/>
        </p:nvSpPr>
        <p:spPr>
          <a:xfrm>
            <a:off x="786384" y="2139696"/>
            <a:ext cx="4946904" cy="256032"/>
          </a:xfrm>
          <a:prstGeom prst="rect">
            <a:avLst/>
          </a:prstGeom>
          <a:noFill/>
          <a:ln/>
        </p:spPr>
        <p:txBody>
          <a:bodyPr wrap="square" rtlCol="0" anchor="ctr"/>
          <a:lstStyle/>
          <a:p>
            <a:pPr indent="0" marL="0">
              <a:buNone/>
            </a:pPr>
            <a:r>
              <a:rPr lang="en-US" sz="1000" b="1" spc="150" kern="0" dirty="0">
                <a:solidFill>
                  <a:srgbClr val="9E0E1C"/>
                </a:solidFill>
                <a:latin typeface="Noto Sans KR" pitchFamily="34" charset="0"/>
                <a:ea typeface="Noto Sans KR" pitchFamily="34" charset="-122"/>
                <a:cs typeface="Noto Sans KR" pitchFamily="34" charset="-120"/>
              </a:rPr>
              <a:t>질문 1</a:t>
            </a:r>
            <a:endParaRPr lang="en-US" sz="1000" dirty="0"/>
          </a:p>
        </p:txBody>
      </p:sp>
      <p:sp>
        <p:nvSpPr>
          <p:cNvPr id="7" name="Text 5"/>
          <p:cNvSpPr/>
          <p:nvPr/>
        </p:nvSpPr>
        <p:spPr>
          <a:xfrm>
            <a:off x="786384" y="2414016"/>
            <a:ext cx="4946904"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트랜스포머는 무엇을 바꿨나</a:t>
            </a:r>
            <a:endParaRPr lang="en-US" sz="1700" dirty="0"/>
          </a:p>
        </p:txBody>
      </p:sp>
      <p:sp>
        <p:nvSpPr>
          <p:cNvPr id="8" name="Text 6"/>
          <p:cNvSpPr/>
          <p:nvPr/>
        </p:nvSpPr>
        <p:spPr>
          <a:xfrm>
            <a:off x="786384" y="2898648"/>
            <a:ext cx="4946904" cy="36576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2017년에 무엇을 버리고 무엇을 남겼나</a:t>
            </a:r>
            <a:endParaRPr lang="en-US" sz="1300" dirty="0"/>
          </a:p>
        </p:txBody>
      </p:sp>
      <p:sp>
        <p:nvSpPr>
          <p:cNvPr id="9" name="Shape 7"/>
          <p:cNvSpPr/>
          <p:nvPr/>
        </p:nvSpPr>
        <p:spPr>
          <a:xfrm>
            <a:off x="6245352" y="1965960"/>
            <a:ext cx="5385816" cy="1463040"/>
          </a:xfrm>
          <a:prstGeom prst="roundRect">
            <a:avLst>
              <a:gd name="adj" fmla="val 5625"/>
            </a:avLst>
          </a:prstGeom>
          <a:solidFill>
            <a:srgbClr val="FBE7E8"/>
          </a:solidFill>
          <a:ln w="15875">
            <a:solidFill>
              <a:srgbClr val="CE1225"/>
            </a:solidFill>
            <a:prstDash val="solid"/>
          </a:ln>
          <a:effectLst>
            <a:outerShdw sx="100000" sy="100000" kx="0" ky="0" algn="bl" rotWithShape="0" blurRad="88900" dist="38100" dir="5400000">
              <a:srgbClr val="6E6A62">
                <a:alpha val="18000"/>
              </a:srgbClr>
            </a:outerShdw>
          </a:effectLst>
        </p:spPr>
      </p:sp>
      <p:sp>
        <p:nvSpPr>
          <p:cNvPr id="10" name="Text 8"/>
          <p:cNvSpPr/>
          <p:nvPr/>
        </p:nvSpPr>
        <p:spPr>
          <a:xfrm>
            <a:off x="6464808" y="2139696"/>
            <a:ext cx="4946904" cy="256032"/>
          </a:xfrm>
          <a:prstGeom prst="rect">
            <a:avLst/>
          </a:prstGeom>
          <a:noFill/>
          <a:ln/>
        </p:spPr>
        <p:txBody>
          <a:bodyPr wrap="square" rtlCol="0" anchor="ctr"/>
          <a:lstStyle/>
          <a:p>
            <a:pPr indent="0" marL="0">
              <a:buNone/>
            </a:pPr>
            <a:r>
              <a:rPr lang="en-US" sz="1000" b="1" spc="150" kern="0" dirty="0">
                <a:solidFill>
                  <a:srgbClr val="9E0E1C"/>
                </a:solidFill>
                <a:latin typeface="Noto Sans KR" pitchFamily="34" charset="0"/>
                <a:ea typeface="Noto Sans KR" pitchFamily="34" charset="-122"/>
                <a:cs typeface="Noto Sans KR" pitchFamily="34" charset="-120"/>
              </a:rPr>
              <a:t>질문 2</a:t>
            </a:r>
            <a:endParaRPr lang="en-US" sz="1000" dirty="0"/>
          </a:p>
        </p:txBody>
      </p:sp>
      <p:sp>
        <p:nvSpPr>
          <p:cNvPr id="11" name="Text 9"/>
          <p:cNvSpPr/>
          <p:nvPr/>
        </p:nvSpPr>
        <p:spPr>
          <a:xfrm>
            <a:off x="6464808" y="2414016"/>
            <a:ext cx="4946904"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어텐션이란 무엇인가</a:t>
            </a:r>
            <a:endParaRPr lang="en-US" sz="1700" dirty="0"/>
          </a:p>
        </p:txBody>
      </p:sp>
      <p:sp>
        <p:nvSpPr>
          <p:cNvPr id="12" name="Text 10"/>
          <p:cNvSpPr/>
          <p:nvPr/>
        </p:nvSpPr>
        <p:spPr>
          <a:xfrm>
            <a:off x="6464808" y="2898648"/>
            <a:ext cx="4946904" cy="36576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도서관에서 책을 찾는 절차와 같다</a:t>
            </a:r>
            <a:endParaRPr lang="en-US" sz="1300" dirty="0"/>
          </a:p>
        </p:txBody>
      </p:sp>
      <p:sp>
        <p:nvSpPr>
          <p:cNvPr id="13" name="Shape 11"/>
          <p:cNvSpPr/>
          <p:nvPr/>
        </p:nvSpPr>
        <p:spPr>
          <a:xfrm>
            <a:off x="566928" y="3657600"/>
            <a:ext cx="3493008" cy="1828800"/>
          </a:xfrm>
          <a:prstGeom prst="roundRect">
            <a:avLst>
              <a:gd name="adj" fmla="val 4500"/>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14" name="Text 12"/>
          <p:cNvSpPr/>
          <p:nvPr/>
        </p:nvSpPr>
        <p:spPr>
          <a:xfrm>
            <a:off x="786384" y="3831336"/>
            <a:ext cx="3054096"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토큰</a:t>
            </a:r>
            <a:endParaRPr lang="en-US" sz="1000" dirty="0"/>
          </a:p>
        </p:txBody>
      </p:sp>
      <p:sp>
        <p:nvSpPr>
          <p:cNvPr id="15" name="Text 13"/>
          <p:cNvSpPr/>
          <p:nvPr/>
        </p:nvSpPr>
        <p:spPr>
          <a:xfrm>
            <a:off x="786384" y="4105656"/>
            <a:ext cx="3054096"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문장의 조각</a:t>
            </a:r>
            <a:endParaRPr lang="en-US" sz="1700" dirty="0"/>
          </a:p>
        </p:txBody>
      </p:sp>
      <p:sp>
        <p:nvSpPr>
          <p:cNvPr id="16" name="Text 14"/>
          <p:cNvSpPr/>
          <p:nvPr/>
        </p:nvSpPr>
        <p:spPr>
          <a:xfrm>
            <a:off x="786384" y="4590288"/>
            <a:ext cx="3054096" cy="73152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대체로 단어 하나 정도 (이의신청 / 기간이)</a:t>
            </a:r>
            <a:endParaRPr lang="en-US" sz="1300" dirty="0"/>
          </a:p>
        </p:txBody>
      </p:sp>
      <p:sp>
        <p:nvSpPr>
          <p:cNvPr id="17" name="Shape 15"/>
          <p:cNvSpPr/>
          <p:nvPr/>
        </p:nvSpPr>
        <p:spPr>
          <a:xfrm>
            <a:off x="4352544" y="3657600"/>
            <a:ext cx="3493008" cy="1828800"/>
          </a:xfrm>
          <a:prstGeom prst="roundRect">
            <a:avLst>
              <a:gd name="adj" fmla="val 4500"/>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18" name="Text 16"/>
          <p:cNvSpPr/>
          <p:nvPr/>
        </p:nvSpPr>
        <p:spPr>
          <a:xfrm>
            <a:off x="4572000" y="3831336"/>
            <a:ext cx="3054096"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벡터</a:t>
            </a:r>
            <a:endParaRPr lang="en-US" sz="1000" dirty="0"/>
          </a:p>
        </p:txBody>
      </p:sp>
      <p:sp>
        <p:nvSpPr>
          <p:cNvPr id="19" name="Text 17"/>
          <p:cNvSpPr/>
          <p:nvPr/>
        </p:nvSpPr>
        <p:spPr>
          <a:xfrm>
            <a:off x="4572000" y="4105656"/>
            <a:ext cx="3054096"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뜻을 적은 숫자들</a:t>
            </a:r>
            <a:endParaRPr lang="en-US" sz="1700" dirty="0"/>
          </a:p>
        </p:txBody>
      </p:sp>
      <p:sp>
        <p:nvSpPr>
          <p:cNvPr id="20" name="Text 18"/>
          <p:cNvSpPr/>
          <p:nvPr/>
        </p:nvSpPr>
        <p:spPr>
          <a:xfrm>
            <a:off x="4572000" y="4590288"/>
            <a:ext cx="3054096" cy="73152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컴퓨터는 글자 대신 숫자로 계산</a:t>
            </a:r>
            <a:endParaRPr lang="en-US" sz="1300" dirty="0"/>
          </a:p>
        </p:txBody>
      </p:sp>
      <p:sp>
        <p:nvSpPr>
          <p:cNvPr id="21" name="Shape 19"/>
          <p:cNvSpPr/>
          <p:nvPr/>
        </p:nvSpPr>
        <p:spPr>
          <a:xfrm>
            <a:off x="8138160" y="3657600"/>
            <a:ext cx="3493008" cy="1828800"/>
          </a:xfrm>
          <a:prstGeom prst="roundRect">
            <a:avLst>
              <a:gd name="adj" fmla="val 4500"/>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22" name="Text 20"/>
          <p:cNvSpPr/>
          <p:nvPr/>
        </p:nvSpPr>
        <p:spPr>
          <a:xfrm>
            <a:off x="8357616" y="3831336"/>
            <a:ext cx="3054096"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가중치</a:t>
            </a:r>
            <a:endParaRPr lang="en-US" sz="1000" dirty="0"/>
          </a:p>
        </p:txBody>
      </p:sp>
      <p:sp>
        <p:nvSpPr>
          <p:cNvPr id="23" name="Text 21"/>
          <p:cNvSpPr/>
          <p:nvPr/>
        </p:nvSpPr>
        <p:spPr>
          <a:xfrm>
            <a:off x="8357616" y="4105656"/>
            <a:ext cx="3054096"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참고 비율</a:t>
            </a:r>
            <a:endParaRPr lang="en-US" sz="1700" dirty="0"/>
          </a:p>
        </p:txBody>
      </p:sp>
      <p:sp>
        <p:nvSpPr>
          <p:cNvPr id="24" name="Text 22"/>
          <p:cNvSpPr/>
          <p:nvPr/>
        </p:nvSpPr>
        <p:spPr>
          <a:xfrm>
            <a:off x="8357616" y="4590288"/>
            <a:ext cx="3054096" cy="73152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무엇을 얼마나 볼지 · 다 더하면 1</a:t>
            </a:r>
            <a:endParaRPr lang="en-US" sz="1300" dirty="0"/>
          </a:p>
        </p:txBody>
      </p:sp>
      <p:sp>
        <p:nvSpPr>
          <p:cNvPr id="25" name="Text 23"/>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정충원</a:t>
            </a:r>
            <a:endParaRPr lang="en-US" sz="950" dirty="0"/>
          </a:p>
        </p:txBody>
      </p:sp>
      <p:sp>
        <p:nvSpPr>
          <p:cNvPr id="26" name="Text 24"/>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질문 1 · 무엇을 바꿨나</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제목이 곧 주장 — Attention Is All You Need</a:t>
            </a:r>
            <a:endParaRPr lang="en-US" sz="2800" dirty="0"/>
          </a:p>
        </p:txBody>
      </p:sp>
      <p:sp>
        <p:nvSpPr>
          <p:cNvPr id="5" name="Text 3"/>
          <p:cNvSpPr/>
          <p:nvPr/>
        </p:nvSpPr>
        <p:spPr>
          <a:xfrm>
            <a:off x="566928" y="1874520"/>
            <a:ext cx="11064240" cy="868680"/>
          </a:xfrm>
          <a:prstGeom prst="rect">
            <a:avLst/>
          </a:prstGeom>
          <a:noFill/>
          <a:ln/>
        </p:spPr>
        <p:txBody>
          <a:bodyPr wrap="square" rtlCol="0" anchor="t"/>
          <a:lstStyle/>
          <a:p>
            <a:pPr indent="0" marL="0">
              <a:lnSpc>
                <a:spcPts val="2600"/>
              </a:lnSpc>
              <a:buNone/>
            </a:pPr>
            <a:r>
              <a:rPr lang="en-US" sz="1800" b="1" dirty="0">
                <a:solidFill>
                  <a:srgbClr val="1A1813"/>
                </a:solidFill>
                <a:latin typeface="Noto Sans KR" pitchFamily="34" charset="0"/>
                <a:ea typeface="Noto Sans KR" pitchFamily="34" charset="-122"/>
                <a:cs typeface="Noto Sans KR" pitchFamily="34" charset="-120"/>
              </a:rPr>
              <a:t>2017년, 연구자 여덟 명. 어텐션만 있으면 된다는 선언.</a:t>
            </a:r>
            <a:endParaRPr lang="en-US" sz="1800" dirty="0"/>
          </a:p>
        </p:txBody>
      </p:sp>
      <p:sp>
        <p:nvSpPr>
          <p:cNvPr id="6" name="Shape 4"/>
          <p:cNvSpPr/>
          <p:nvPr/>
        </p:nvSpPr>
        <p:spPr>
          <a:xfrm>
            <a:off x="566928" y="2606040"/>
            <a:ext cx="11064240" cy="685800"/>
          </a:xfrm>
          <a:prstGeom prst="roundRect">
            <a:avLst>
              <a:gd name="adj" fmla="val 9333"/>
            </a:avLst>
          </a:prstGeom>
          <a:solidFill>
            <a:srgbClr val="FFFFFF"/>
          </a:solidFill>
          <a:ln w="12700">
            <a:solidFill>
              <a:srgbClr val="E8E3D9"/>
            </a:solidFill>
            <a:prstDash val="solid"/>
          </a:ln>
          <a:effectLst>
            <a:outerShdw sx="100000" sy="100000" kx="0" ky="0" algn="bl" rotWithShape="0" blurRad="76200" dist="25400" dir="5400000">
              <a:srgbClr val="6E6A62">
                <a:alpha val="16000"/>
              </a:srgbClr>
            </a:outerShdw>
          </a:effectLst>
        </p:spPr>
      </p:sp>
      <p:sp>
        <p:nvSpPr>
          <p:cNvPr id="7" name="Text 5"/>
          <p:cNvSpPr/>
          <p:nvPr/>
        </p:nvSpPr>
        <p:spPr>
          <a:xfrm>
            <a:off x="786384" y="2624328"/>
            <a:ext cx="10607040" cy="649224"/>
          </a:xfrm>
          <a:prstGeom prst="rect">
            <a:avLst/>
          </a:prstGeom>
          <a:noFill/>
          <a:ln/>
        </p:spPr>
        <p:txBody>
          <a:bodyPr wrap="square" rtlCol="0" anchor="ctr"/>
          <a:lstStyle/>
          <a:p>
            <a:pPr indent="0" marL="0">
              <a:buNone/>
            </a:pPr>
            <a:r>
              <a:rPr lang="en-US" sz="1500" dirty="0">
                <a:solidFill>
                  <a:srgbClr val="1A1813"/>
                </a:solidFill>
                <a:latin typeface="Noto Sans KR" pitchFamily="34" charset="0"/>
                <a:ea typeface="Noto Sans KR" pitchFamily="34" charset="-122"/>
                <a:cs typeface="Noto Sans KR" pitchFamily="34" charset="-120"/>
              </a:rPr>
              <a:t>based solely on attention mechanisms, dispensing with recurrence and convolutions entirely</a:t>
            </a:r>
            <a:endParaRPr lang="en-US" sz="1500" dirty="0"/>
          </a:p>
        </p:txBody>
      </p:sp>
      <p:sp>
        <p:nvSpPr>
          <p:cNvPr id="8" name="Text 6"/>
          <p:cNvSpPr/>
          <p:nvPr/>
        </p:nvSpPr>
        <p:spPr>
          <a:xfrm>
            <a:off x="566928" y="3520440"/>
            <a:ext cx="11064240" cy="64008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우리말 뜻 — 어텐션만 쓰고, 순환(RNN)과 합성곱(CNN)은 완전히 걷어냈다</a:t>
            </a:r>
            <a:endParaRPr lang="en-US" sz="1700" dirty="0"/>
          </a:p>
        </p:txBody>
      </p:sp>
      <p:sp>
        <p:nvSpPr>
          <p:cNvPr id="9" name="Text 7"/>
          <p:cNvSpPr/>
          <p:nvPr/>
        </p:nvSpPr>
        <p:spPr>
          <a:xfrm>
            <a:off x="566928" y="4343400"/>
            <a:ext cx="10972800" cy="274320"/>
          </a:xfrm>
          <a:prstGeom prst="rect">
            <a:avLst/>
          </a:prstGeom>
          <a:noFill/>
          <a:ln/>
        </p:spPr>
        <p:txBody>
          <a:bodyPr wrap="square" rtlCol="0" anchor="ctr"/>
          <a:lstStyle/>
          <a:p>
            <a:pPr indent="0" marL="0">
              <a:buNone/>
            </a:pPr>
            <a:r>
              <a:rPr lang="en-US" sz="1100" dirty="0">
                <a:solidFill>
                  <a:srgbClr val="8B8578"/>
                </a:solidFill>
                <a:latin typeface="Noto Sans KR" pitchFamily="34" charset="0"/>
                <a:ea typeface="Noto Sans KR" pitchFamily="34" charset="-122"/>
                <a:cs typeface="Noto Sans KR" pitchFamily="34" charset="-120"/>
              </a:rPr>
              <a:t>Vaswani et al., Attention Is All You Need, arXiv:1706.03762 (2017)</a:t>
            </a:r>
            <a:endParaRPr lang="en-US" sz="1100" dirty="0"/>
          </a:p>
        </p:txBody>
      </p:sp>
      <p:sp>
        <p:nvSpPr>
          <p:cNvPr id="10" name="Text 8"/>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정충원</a:t>
            </a:r>
            <a:endParaRPr lang="en-US" sz="950" dirty="0"/>
          </a:p>
        </p:txBody>
      </p:sp>
      <p:sp>
        <p:nvSpPr>
          <p:cNvPr id="11" name="Text 9"/>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세 가지 방식</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버린 둘, 남긴 하나</a:t>
            </a:r>
            <a:endParaRPr lang="en-US" sz="2800" dirty="0"/>
          </a:p>
        </p:txBody>
      </p:sp>
      <p:sp>
        <p:nvSpPr>
          <p:cNvPr id="5" name="Shape 3"/>
          <p:cNvSpPr/>
          <p:nvPr/>
        </p:nvSpPr>
        <p:spPr>
          <a:xfrm>
            <a:off x="566928" y="2148840"/>
            <a:ext cx="3493008" cy="2011680"/>
          </a:xfrm>
          <a:prstGeom prst="roundRect">
            <a:avLst>
              <a:gd name="adj" fmla="val 4091"/>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6" name="Text 4"/>
          <p:cNvSpPr/>
          <p:nvPr/>
        </p:nvSpPr>
        <p:spPr>
          <a:xfrm>
            <a:off x="786384" y="2322576"/>
            <a:ext cx="3054096"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버림 01</a:t>
            </a:r>
            <a:endParaRPr lang="en-US" sz="1000" dirty="0"/>
          </a:p>
        </p:txBody>
      </p:sp>
      <p:sp>
        <p:nvSpPr>
          <p:cNvPr id="7" name="Text 5"/>
          <p:cNvSpPr/>
          <p:nvPr/>
        </p:nvSpPr>
        <p:spPr>
          <a:xfrm>
            <a:off x="786384" y="2596896"/>
            <a:ext cx="3054096" cy="475488"/>
          </a:xfrm>
          <a:prstGeom prst="rect">
            <a:avLst/>
          </a:prstGeom>
          <a:noFill/>
          <a:ln/>
        </p:spPr>
        <p:txBody>
          <a:bodyPr wrap="square" rtlCol="0" anchor="t"/>
          <a:lstStyle/>
          <a:p>
            <a:pPr indent="0" marL="0">
              <a:buNone/>
            </a:pPr>
            <a:r>
              <a:rPr lang="en-US" sz="1700" b="1" strike="sngStrike" dirty="0">
                <a:solidFill>
                  <a:srgbClr val="8B8578"/>
                </a:solidFill>
                <a:latin typeface="Noto Sans KR" pitchFamily="34" charset="0"/>
                <a:ea typeface="Noto Sans KR" pitchFamily="34" charset="-122"/>
                <a:cs typeface="Noto Sans KR" pitchFamily="34" charset="-120"/>
              </a:rPr>
              <a:t>순환 구조</a:t>
            </a:r>
            <a:endParaRPr lang="en-US" sz="1700" dirty="0"/>
          </a:p>
        </p:txBody>
      </p:sp>
      <p:sp>
        <p:nvSpPr>
          <p:cNvPr id="8" name="Text 6"/>
          <p:cNvSpPr/>
          <p:nvPr/>
        </p:nvSpPr>
        <p:spPr>
          <a:xfrm>
            <a:off x="786384" y="3081528"/>
            <a:ext cx="3054096" cy="91440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문장을 앞에서 뒤로 한 조각씩 차례대로</a:t>
            </a:r>
            <a:endParaRPr lang="en-US" sz="1300" dirty="0"/>
          </a:p>
        </p:txBody>
      </p:sp>
      <p:sp>
        <p:nvSpPr>
          <p:cNvPr id="9" name="Shape 7"/>
          <p:cNvSpPr/>
          <p:nvPr/>
        </p:nvSpPr>
        <p:spPr>
          <a:xfrm>
            <a:off x="4352544" y="2148840"/>
            <a:ext cx="3493008" cy="2011680"/>
          </a:xfrm>
          <a:prstGeom prst="roundRect">
            <a:avLst>
              <a:gd name="adj" fmla="val 4091"/>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10" name="Text 8"/>
          <p:cNvSpPr/>
          <p:nvPr/>
        </p:nvSpPr>
        <p:spPr>
          <a:xfrm>
            <a:off x="4572000" y="2322576"/>
            <a:ext cx="3054096"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버림 02</a:t>
            </a:r>
            <a:endParaRPr lang="en-US" sz="1000" dirty="0"/>
          </a:p>
        </p:txBody>
      </p:sp>
      <p:sp>
        <p:nvSpPr>
          <p:cNvPr id="11" name="Text 9"/>
          <p:cNvSpPr/>
          <p:nvPr/>
        </p:nvSpPr>
        <p:spPr>
          <a:xfrm>
            <a:off x="4572000" y="2596896"/>
            <a:ext cx="3054096" cy="475488"/>
          </a:xfrm>
          <a:prstGeom prst="rect">
            <a:avLst/>
          </a:prstGeom>
          <a:noFill/>
          <a:ln/>
        </p:spPr>
        <p:txBody>
          <a:bodyPr wrap="square" rtlCol="0" anchor="t"/>
          <a:lstStyle/>
          <a:p>
            <a:pPr indent="0" marL="0">
              <a:buNone/>
            </a:pPr>
            <a:r>
              <a:rPr lang="en-US" sz="1700" b="1" strike="sngStrike" dirty="0">
                <a:solidFill>
                  <a:srgbClr val="8B8578"/>
                </a:solidFill>
                <a:latin typeface="Noto Sans KR" pitchFamily="34" charset="0"/>
                <a:ea typeface="Noto Sans KR" pitchFamily="34" charset="-122"/>
                <a:cs typeface="Noto Sans KR" pitchFamily="34" charset="-120"/>
              </a:rPr>
              <a:t>합성곱</a:t>
            </a:r>
            <a:endParaRPr lang="en-US" sz="1700" dirty="0"/>
          </a:p>
        </p:txBody>
      </p:sp>
      <p:sp>
        <p:nvSpPr>
          <p:cNvPr id="12" name="Text 10"/>
          <p:cNvSpPr/>
          <p:nvPr/>
        </p:nvSpPr>
        <p:spPr>
          <a:xfrm>
            <a:off x="4572000" y="3081528"/>
            <a:ext cx="3054096" cy="91440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정해진 창으로 훑음 · 멀리 떨어진 조각은 못 봄</a:t>
            </a:r>
            <a:endParaRPr lang="en-US" sz="1300" dirty="0"/>
          </a:p>
        </p:txBody>
      </p:sp>
      <p:sp>
        <p:nvSpPr>
          <p:cNvPr id="13" name="Shape 11"/>
          <p:cNvSpPr/>
          <p:nvPr/>
        </p:nvSpPr>
        <p:spPr>
          <a:xfrm>
            <a:off x="8138160" y="2148840"/>
            <a:ext cx="3493008" cy="2011680"/>
          </a:xfrm>
          <a:prstGeom prst="roundRect">
            <a:avLst>
              <a:gd name="adj" fmla="val 4091"/>
            </a:avLst>
          </a:prstGeom>
          <a:solidFill>
            <a:srgbClr val="FBE7E8"/>
          </a:solidFill>
          <a:ln w="15875">
            <a:solidFill>
              <a:srgbClr val="CE1225"/>
            </a:solidFill>
            <a:prstDash val="solid"/>
          </a:ln>
          <a:effectLst>
            <a:outerShdw sx="100000" sy="100000" kx="0" ky="0" algn="bl" rotWithShape="0" blurRad="88900" dist="38100" dir="5400000">
              <a:srgbClr val="6E6A62">
                <a:alpha val="18000"/>
              </a:srgbClr>
            </a:outerShdw>
          </a:effectLst>
        </p:spPr>
      </p:sp>
      <p:sp>
        <p:nvSpPr>
          <p:cNvPr id="14" name="Text 12"/>
          <p:cNvSpPr/>
          <p:nvPr/>
        </p:nvSpPr>
        <p:spPr>
          <a:xfrm>
            <a:off x="8357616" y="2322576"/>
            <a:ext cx="3054096" cy="256032"/>
          </a:xfrm>
          <a:prstGeom prst="rect">
            <a:avLst/>
          </a:prstGeom>
          <a:noFill/>
          <a:ln/>
        </p:spPr>
        <p:txBody>
          <a:bodyPr wrap="square" rtlCol="0" anchor="ctr"/>
          <a:lstStyle/>
          <a:p>
            <a:pPr indent="0" marL="0">
              <a:buNone/>
            </a:pPr>
            <a:r>
              <a:rPr lang="en-US" sz="1000" b="1" spc="150" kern="0" dirty="0">
                <a:solidFill>
                  <a:srgbClr val="9E0E1C"/>
                </a:solidFill>
                <a:latin typeface="Noto Sans KR" pitchFamily="34" charset="0"/>
                <a:ea typeface="Noto Sans KR" pitchFamily="34" charset="-122"/>
                <a:cs typeface="Noto Sans KR" pitchFamily="34" charset="-120"/>
              </a:rPr>
              <a:t>남김</a:t>
            </a:r>
            <a:endParaRPr lang="en-US" sz="1000" dirty="0"/>
          </a:p>
        </p:txBody>
      </p:sp>
      <p:sp>
        <p:nvSpPr>
          <p:cNvPr id="15" name="Text 13"/>
          <p:cNvSpPr/>
          <p:nvPr/>
        </p:nvSpPr>
        <p:spPr>
          <a:xfrm>
            <a:off x="8357616" y="2596896"/>
            <a:ext cx="3054096"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어텐션</a:t>
            </a:r>
            <a:endParaRPr lang="en-US" sz="1700" dirty="0"/>
          </a:p>
        </p:txBody>
      </p:sp>
      <p:sp>
        <p:nvSpPr>
          <p:cNvPr id="16" name="Text 14"/>
          <p:cNvSpPr/>
          <p:nvPr/>
        </p:nvSpPr>
        <p:spPr>
          <a:xfrm>
            <a:off x="8357616" y="3081528"/>
            <a:ext cx="3054096" cy="91440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모든 조각이 서로를 한 번에 봄 · 거리 멀어도 연결</a:t>
            </a:r>
            <a:endParaRPr lang="en-US" sz="1300" dirty="0"/>
          </a:p>
        </p:txBody>
      </p:sp>
      <p:sp>
        <p:nvSpPr>
          <p:cNvPr id="17" name="Text 15"/>
          <p:cNvSpPr/>
          <p:nvPr/>
        </p:nvSpPr>
        <p:spPr>
          <a:xfrm>
            <a:off x="566928" y="4526280"/>
            <a:ext cx="11064240" cy="64008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쉬운 말로 — 앞 두 방식은 순서대로/가까운 것만. 어텐션은 전부 한 번에.</a:t>
            </a:r>
            <a:endParaRPr lang="en-US" sz="1700" dirty="0"/>
          </a:p>
        </p:txBody>
      </p:sp>
      <p:sp>
        <p:nvSpPr>
          <p:cNvPr id="18" name="Text 16"/>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정충원</a:t>
            </a:r>
            <a:endParaRPr lang="en-US" sz="950" dirty="0"/>
          </a:p>
        </p:txBody>
      </p:sp>
      <p:sp>
        <p:nvSpPr>
          <p:cNvPr id="19" name="Text 17"/>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직접 보기 · 순서대로 VS 한꺼번에</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기다림이 사라졌습니다</a:t>
            </a:r>
            <a:endParaRPr lang="en-US" sz="2800" dirty="0"/>
          </a:p>
        </p:txBody>
      </p:sp>
      <p:sp>
        <p:nvSpPr>
          <p:cNvPr id="5" name="Shape 3"/>
          <p:cNvSpPr/>
          <p:nvPr/>
        </p:nvSpPr>
        <p:spPr>
          <a:xfrm>
            <a:off x="566928" y="2148840"/>
            <a:ext cx="5385816" cy="2011680"/>
          </a:xfrm>
          <a:prstGeom prst="roundRect">
            <a:avLst>
              <a:gd name="adj" fmla="val 4091"/>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6" name="Text 4"/>
          <p:cNvSpPr/>
          <p:nvPr/>
        </p:nvSpPr>
        <p:spPr>
          <a:xfrm>
            <a:off x="786384" y="2322576"/>
            <a:ext cx="4946904"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순환 구조 (예전)</a:t>
            </a:r>
            <a:endParaRPr lang="en-US" sz="1000" dirty="0"/>
          </a:p>
        </p:txBody>
      </p:sp>
      <p:sp>
        <p:nvSpPr>
          <p:cNvPr id="7" name="Text 5"/>
          <p:cNvSpPr/>
          <p:nvPr/>
        </p:nvSpPr>
        <p:spPr>
          <a:xfrm>
            <a:off x="786384" y="2596896"/>
            <a:ext cx="4946904" cy="475488"/>
          </a:xfrm>
          <a:prstGeom prst="rect">
            <a:avLst/>
          </a:prstGeom>
          <a:noFill/>
          <a:ln/>
        </p:spPr>
        <p:txBody>
          <a:bodyPr wrap="square" rtlCol="0" anchor="t"/>
          <a:lstStyle/>
          <a:p>
            <a:pPr indent="0" marL="0">
              <a:buNone/>
            </a:pPr>
            <a:r>
              <a:rPr lang="en-US" sz="1700" b="1" strike="sngStrike" dirty="0">
                <a:solidFill>
                  <a:srgbClr val="8B8578"/>
                </a:solidFill>
                <a:latin typeface="Noto Sans KR" pitchFamily="34" charset="0"/>
                <a:ea typeface="Noto Sans KR" pitchFamily="34" charset="-122"/>
                <a:cs typeface="Noto Sans KR" pitchFamily="34" charset="-120"/>
              </a:rPr>
              <a:t>창구 하나 · 줄 서기</a:t>
            </a:r>
            <a:endParaRPr lang="en-US" sz="1700" dirty="0"/>
          </a:p>
        </p:txBody>
      </p:sp>
      <p:sp>
        <p:nvSpPr>
          <p:cNvPr id="8" name="Text 6"/>
          <p:cNvSpPr/>
          <p:nvPr/>
        </p:nvSpPr>
        <p:spPr>
          <a:xfrm>
            <a:off x="786384" y="3081528"/>
            <a:ext cx="4946904" cy="91440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세 번째 조각은 두 번째가 끝나야 시작. 여섯 조각이면 여섯 번 기다림.</a:t>
            </a:r>
            <a:endParaRPr lang="en-US" sz="1300" dirty="0"/>
          </a:p>
        </p:txBody>
      </p:sp>
      <p:sp>
        <p:nvSpPr>
          <p:cNvPr id="9" name="Shape 7"/>
          <p:cNvSpPr/>
          <p:nvPr/>
        </p:nvSpPr>
        <p:spPr>
          <a:xfrm>
            <a:off x="6245352" y="2148840"/>
            <a:ext cx="5385816" cy="2011680"/>
          </a:xfrm>
          <a:prstGeom prst="roundRect">
            <a:avLst>
              <a:gd name="adj" fmla="val 4091"/>
            </a:avLst>
          </a:prstGeom>
          <a:solidFill>
            <a:srgbClr val="FBE7E8"/>
          </a:solidFill>
          <a:ln w="15875">
            <a:solidFill>
              <a:srgbClr val="CE1225"/>
            </a:solidFill>
            <a:prstDash val="solid"/>
          </a:ln>
          <a:effectLst>
            <a:outerShdw sx="100000" sy="100000" kx="0" ky="0" algn="bl" rotWithShape="0" blurRad="88900" dist="38100" dir="5400000">
              <a:srgbClr val="6E6A62">
                <a:alpha val="18000"/>
              </a:srgbClr>
            </a:outerShdw>
          </a:effectLst>
        </p:spPr>
      </p:sp>
      <p:sp>
        <p:nvSpPr>
          <p:cNvPr id="10" name="Text 8"/>
          <p:cNvSpPr/>
          <p:nvPr/>
        </p:nvSpPr>
        <p:spPr>
          <a:xfrm>
            <a:off x="6464808" y="2322576"/>
            <a:ext cx="4946904" cy="256032"/>
          </a:xfrm>
          <a:prstGeom prst="rect">
            <a:avLst/>
          </a:prstGeom>
          <a:noFill/>
          <a:ln/>
        </p:spPr>
        <p:txBody>
          <a:bodyPr wrap="square" rtlCol="0" anchor="ctr"/>
          <a:lstStyle/>
          <a:p>
            <a:pPr indent="0" marL="0">
              <a:buNone/>
            </a:pPr>
            <a:r>
              <a:rPr lang="en-US" sz="1000" b="1" spc="150" kern="0" dirty="0">
                <a:solidFill>
                  <a:srgbClr val="9E0E1C"/>
                </a:solidFill>
                <a:latin typeface="Noto Sans KR" pitchFamily="34" charset="0"/>
                <a:ea typeface="Noto Sans KR" pitchFamily="34" charset="-122"/>
                <a:cs typeface="Noto Sans KR" pitchFamily="34" charset="-120"/>
              </a:rPr>
              <a:t>트랜스포머</a:t>
            </a:r>
            <a:endParaRPr lang="en-US" sz="1000" dirty="0"/>
          </a:p>
        </p:txBody>
      </p:sp>
      <p:sp>
        <p:nvSpPr>
          <p:cNvPr id="11" name="Text 9"/>
          <p:cNvSpPr/>
          <p:nvPr/>
        </p:nvSpPr>
        <p:spPr>
          <a:xfrm>
            <a:off x="6464808" y="2596896"/>
            <a:ext cx="4946904"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창구 여섯 · 동시</a:t>
            </a:r>
            <a:endParaRPr lang="en-US" sz="1700" dirty="0"/>
          </a:p>
        </p:txBody>
      </p:sp>
      <p:sp>
        <p:nvSpPr>
          <p:cNvPr id="12" name="Text 10"/>
          <p:cNvSpPr/>
          <p:nvPr/>
        </p:nvSpPr>
        <p:spPr>
          <a:xfrm>
            <a:off x="6464808" y="3081528"/>
            <a:ext cx="4946904" cy="91440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여섯 조각을 한 번에 계산. 기다림 없음 → 병렬.</a:t>
            </a:r>
            <a:endParaRPr lang="en-US" sz="1300" dirty="0"/>
          </a:p>
        </p:txBody>
      </p:sp>
      <p:sp>
        <p:nvSpPr>
          <p:cNvPr id="13" name="Text 11"/>
          <p:cNvSpPr/>
          <p:nvPr/>
        </p:nvSpPr>
        <p:spPr>
          <a:xfrm>
            <a:off x="566928" y="4526280"/>
            <a:ext cx="11064240" cy="64008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비유 — 왼쪽은 창구 하나에 여섯 명이 줄, 오른쪽은 창구 여섯 개를 동시에 연다.</a:t>
            </a:r>
            <a:endParaRPr lang="en-US" sz="1700" dirty="0"/>
          </a:p>
        </p:txBody>
      </p:sp>
      <p:sp>
        <p:nvSpPr>
          <p:cNvPr id="14" name="Text 1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정충원</a:t>
            </a:r>
            <a:endParaRPr lang="en-US" sz="950" dirty="0"/>
          </a:p>
        </p:txBody>
      </p:sp>
      <p:sp>
        <p:nvSpPr>
          <p:cNvPr id="15" name="Text 1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논문의 결과</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여덟 장, 사흘 반</a:t>
            </a:r>
            <a:endParaRPr lang="en-US" sz="2800" dirty="0"/>
          </a:p>
        </p:txBody>
      </p:sp>
      <p:sp>
        <p:nvSpPr>
          <p:cNvPr id="5" name="Shape 3"/>
          <p:cNvSpPr/>
          <p:nvPr/>
        </p:nvSpPr>
        <p:spPr>
          <a:xfrm>
            <a:off x="566928" y="2148840"/>
            <a:ext cx="3493008" cy="1828800"/>
          </a:xfrm>
          <a:prstGeom prst="roundRect">
            <a:avLst>
              <a:gd name="adj" fmla="val 4500"/>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6" name="Text 4"/>
          <p:cNvSpPr/>
          <p:nvPr/>
        </p:nvSpPr>
        <p:spPr>
          <a:xfrm>
            <a:off x="786384" y="2322576"/>
            <a:ext cx="3054096"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쓴 장비</a:t>
            </a:r>
            <a:endParaRPr lang="en-US" sz="1000" dirty="0"/>
          </a:p>
        </p:txBody>
      </p:sp>
      <p:sp>
        <p:nvSpPr>
          <p:cNvPr id="7" name="Text 5"/>
          <p:cNvSpPr/>
          <p:nvPr/>
        </p:nvSpPr>
        <p:spPr>
          <a:xfrm>
            <a:off x="786384" y="2596896"/>
            <a:ext cx="3054096" cy="640080"/>
          </a:xfrm>
          <a:prstGeom prst="rect">
            <a:avLst/>
          </a:prstGeom>
          <a:noFill/>
          <a:ln/>
        </p:spPr>
        <p:txBody>
          <a:bodyPr wrap="square" rtlCol="0" anchor="t"/>
          <a:lstStyle/>
          <a:p>
            <a:pPr indent="0" marL="0">
              <a:buNone/>
            </a:pPr>
            <a:r>
              <a:rPr lang="en-US" sz="2400" b="1" dirty="0">
                <a:solidFill>
                  <a:srgbClr val="1A1813"/>
                </a:solidFill>
                <a:latin typeface="Noto Sans KR" pitchFamily="34" charset="0"/>
                <a:ea typeface="Noto Sans KR" pitchFamily="34" charset="-122"/>
                <a:cs typeface="Noto Sans KR" pitchFamily="34" charset="-120"/>
              </a:rPr>
              <a:t>GPU 8장</a:t>
            </a:r>
            <a:endParaRPr lang="en-US" sz="2400" dirty="0"/>
          </a:p>
        </p:txBody>
      </p:sp>
      <p:sp>
        <p:nvSpPr>
          <p:cNvPr id="8" name="Text 6"/>
          <p:cNvSpPr/>
          <p:nvPr/>
        </p:nvSpPr>
        <p:spPr>
          <a:xfrm>
            <a:off x="786384" y="3282696"/>
            <a:ext cx="3054096" cy="530352"/>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당시 기준 크지 않은 규모</a:t>
            </a:r>
            <a:endParaRPr lang="en-US" sz="1300" dirty="0"/>
          </a:p>
        </p:txBody>
      </p:sp>
      <p:sp>
        <p:nvSpPr>
          <p:cNvPr id="9" name="Shape 7"/>
          <p:cNvSpPr/>
          <p:nvPr/>
        </p:nvSpPr>
        <p:spPr>
          <a:xfrm>
            <a:off x="4352544" y="2148840"/>
            <a:ext cx="3493008" cy="1828800"/>
          </a:xfrm>
          <a:prstGeom prst="roundRect">
            <a:avLst>
              <a:gd name="adj" fmla="val 4500"/>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10" name="Text 8"/>
          <p:cNvSpPr/>
          <p:nvPr/>
        </p:nvSpPr>
        <p:spPr>
          <a:xfrm>
            <a:off x="4572000" y="2322576"/>
            <a:ext cx="3054096"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걸린 시간</a:t>
            </a:r>
            <a:endParaRPr lang="en-US" sz="1000" dirty="0"/>
          </a:p>
        </p:txBody>
      </p:sp>
      <p:sp>
        <p:nvSpPr>
          <p:cNvPr id="11" name="Text 9"/>
          <p:cNvSpPr/>
          <p:nvPr/>
        </p:nvSpPr>
        <p:spPr>
          <a:xfrm>
            <a:off x="4572000" y="2596896"/>
            <a:ext cx="3054096" cy="640080"/>
          </a:xfrm>
          <a:prstGeom prst="rect">
            <a:avLst/>
          </a:prstGeom>
          <a:noFill/>
          <a:ln/>
        </p:spPr>
        <p:txBody>
          <a:bodyPr wrap="square" rtlCol="0" anchor="t"/>
          <a:lstStyle/>
          <a:p>
            <a:pPr indent="0" marL="0">
              <a:buNone/>
            </a:pPr>
            <a:r>
              <a:rPr lang="en-US" sz="2400" b="1" dirty="0">
                <a:solidFill>
                  <a:srgbClr val="1A1813"/>
                </a:solidFill>
                <a:latin typeface="Noto Sans KR" pitchFamily="34" charset="0"/>
                <a:ea typeface="Noto Sans KR" pitchFamily="34" charset="-122"/>
                <a:cs typeface="Noto Sans KR" pitchFamily="34" charset="-120"/>
              </a:rPr>
              <a:t>3.5일</a:t>
            </a:r>
            <a:endParaRPr lang="en-US" sz="2400" dirty="0"/>
          </a:p>
        </p:txBody>
      </p:sp>
      <p:sp>
        <p:nvSpPr>
          <p:cNvPr id="12" name="Text 10"/>
          <p:cNvSpPr/>
          <p:nvPr/>
        </p:nvSpPr>
        <p:spPr>
          <a:xfrm>
            <a:off x="4572000" y="3282696"/>
            <a:ext cx="3054096" cy="530352"/>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예전 방식보다 훨씬 적은 비용</a:t>
            </a:r>
            <a:endParaRPr lang="en-US" sz="1300" dirty="0"/>
          </a:p>
        </p:txBody>
      </p:sp>
      <p:sp>
        <p:nvSpPr>
          <p:cNvPr id="13" name="Shape 11"/>
          <p:cNvSpPr/>
          <p:nvPr/>
        </p:nvSpPr>
        <p:spPr>
          <a:xfrm>
            <a:off x="8138160" y="2148840"/>
            <a:ext cx="3493008" cy="1828800"/>
          </a:xfrm>
          <a:prstGeom prst="roundRect">
            <a:avLst>
              <a:gd name="adj" fmla="val 4500"/>
            </a:avLst>
          </a:prstGeom>
          <a:solidFill>
            <a:srgbClr val="FBE7E8"/>
          </a:solidFill>
          <a:ln w="15875">
            <a:solidFill>
              <a:srgbClr val="CE1225"/>
            </a:solidFill>
            <a:prstDash val="solid"/>
          </a:ln>
          <a:effectLst>
            <a:outerShdw sx="100000" sy="100000" kx="0" ky="0" algn="bl" rotWithShape="0" blurRad="88900" dist="38100" dir="5400000">
              <a:srgbClr val="6E6A62">
                <a:alpha val="18000"/>
              </a:srgbClr>
            </a:outerShdw>
          </a:effectLst>
        </p:spPr>
      </p:sp>
      <p:sp>
        <p:nvSpPr>
          <p:cNvPr id="14" name="Text 12"/>
          <p:cNvSpPr/>
          <p:nvPr/>
        </p:nvSpPr>
        <p:spPr>
          <a:xfrm>
            <a:off x="8357616" y="2322576"/>
            <a:ext cx="3054096" cy="256032"/>
          </a:xfrm>
          <a:prstGeom prst="rect">
            <a:avLst/>
          </a:prstGeom>
          <a:noFill/>
          <a:ln/>
        </p:spPr>
        <p:txBody>
          <a:bodyPr wrap="square" rtlCol="0" anchor="ctr"/>
          <a:lstStyle/>
          <a:p>
            <a:pPr indent="0" marL="0">
              <a:buNone/>
            </a:pPr>
            <a:r>
              <a:rPr lang="en-US" sz="1000" b="1" spc="150" kern="0" dirty="0">
                <a:solidFill>
                  <a:srgbClr val="9E0E1C"/>
                </a:solidFill>
                <a:latin typeface="Noto Sans KR" pitchFamily="34" charset="0"/>
                <a:ea typeface="Noto Sans KR" pitchFamily="34" charset="-122"/>
                <a:cs typeface="Noto Sans KR" pitchFamily="34" charset="-120"/>
              </a:rPr>
              <a:t>번역 점수</a:t>
            </a:r>
            <a:endParaRPr lang="en-US" sz="1000" dirty="0"/>
          </a:p>
        </p:txBody>
      </p:sp>
      <p:sp>
        <p:nvSpPr>
          <p:cNvPr id="15" name="Text 13"/>
          <p:cNvSpPr/>
          <p:nvPr/>
        </p:nvSpPr>
        <p:spPr>
          <a:xfrm>
            <a:off x="8357616" y="2596896"/>
            <a:ext cx="3054096" cy="640080"/>
          </a:xfrm>
          <a:prstGeom prst="rect">
            <a:avLst/>
          </a:prstGeom>
          <a:noFill/>
          <a:ln/>
        </p:spPr>
        <p:txBody>
          <a:bodyPr wrap="square" rtlCol="0" anchor="t"/>
          <a:lstStyle/>
          <a:p>
            <a:pPr indent="0" marL="0">
              <a:buNone/>
            </a:pPr>
            <a:r>
              <a:rPr lang="en-US" sz="2400" b="1" dirty="0">
                <a:solidFill>
                  <a:srgbClr val="1A1813"/>
                </a:solidFill>
                <a:latin typeface="Noto Sans KR" pitchFamily="34" charset="0"/>
                <a:ea typeface="Noto Sans KR" pitchFamily="34" charset="-122"/>
                <a:cs typeface="Noto Sans KR" pitchFamily="34" charset="-120"/>
              </a:rPr>
              <a:t>SOTA</a:t>
            </a:r>
            <a:endParaRPr lang="en-US" sz="2400" dirty="0"/>
          </a:p>
        </p:txBody>
      </p:sp>
      <p:sp>
        <p:nvSpPr>
          <p:cNvPr id="16" name="Text 14"/>
          <p:cNvSpPr/>
          <p:nvPr/>
        </p:nvSpPr>
        <p:spPr>
          <a:xfrm>
            <a:off x="8357616" y="3282696"/>
            <a:ext cx="3054096" cy="530352"/>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영→독 28.4 · 영→불 41.8 (BLEU)</a:t>
            </a:r>
            <a:endParaRPr lang="en-US" sz="1300" dirty="0"/>
          </a:p>
        </p:txBody>
      </p:sp>
      <p:sp>
        <p:nvSpPr>
          <p:cNvPr id="17" name="Text 15"/>
          <p:cNvSpPr/>
          <p:nvPr/>
        </p:nvSpPr>
        <p:spPr>
          <a:xfrm>
            <a:off x="566928" y="4343400"/>
            <a:ext cx="11064240" cy="64008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중요한 건 점수가 아니라 더 큰 데이터·모델을 감당할 길이 열린 것 — 지금 LLM의 첫 단추.</a:t>
            </a:r>
            <a:endParaRPr lang="en-US" sz="1700" dirty="0"/>
          </a:p>
        </p:txBody>
      </p:sp>
      <p:sp>
        <p:nvSpPr>
          <p:cNvPr id="18" name="Text 16"/>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정충원</a:t>
            </a:r>
            <a:endParaRPr lang="en-US" sz="950" dirty="0"/>
          </a:p>
        </p:txBody>
      </p:sp>
      <p:sp>
        <p:nvSpPr>
          <p:cNvPr id="19" name="Text 17"/>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질문 2 · 어텐션이란</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지금 나를 이해하려면 누구를 참고해야 하지?</a:t>
            </a:r>
            <a:endParaRPr lang="en-US" sz="2800" dirty="0"/>
          </a:p>
        </p:txBody>
      </p:sp>
      <p:sp>
        <p:nvSpPr>
          <p:cNvPr id="5" name="Text 3"/>
          <p:cNvSpPr/>
          <p:nvPr/>
        </p:nvSpPr>
        <p:spPr>
          <a:xfrm>
            <a:off x="566928" y="1965960"/>
            <a:ext cx="11064240" cy="868680"/>
          </a:xfrm>
          <a:prstGeom prst="rect">
            <a:avLst/>
          </a:prstGeom>
          <a:noFill/>
          <a:ln/>
        </p:spPr>
        <p:txBody>
          <a:bodyPr wrap="square" rtlCol="0" anchor="t"/>
          <a:lstStyle/>
          <a:p>
            <a:pPr indent="0" marL="0">
              <a:lnSpc>
                <a:spcPts val="2600"/>
              </a:lnSpc>
              <a:buNone/>
            </a:pPr>
            <a:r>
              <a:rPr lang="en-US" sz="2000" b="1" dirty="0">
                <a:solidFill>
                  <a:srgbClr val="1A1813"/>
                </a:solidFill>
                <a:latin typeface="Noto Sans KR" pitchFamily="34" charset="0"/>
                <a:ea typeface="Noto Sans KR" pitchFamily="34" charset="-122"/>
                <a:cs typeface="Noto Sans KR" pitchFamily="34" charset="-120"/>
              </a:rPr>
              <a:t>한 조각이 문장 안 다른 조각들을 둘러보며, 참고할 대상을 스스로 정하는 방식.</a:t>
            </a:r>
            <a:endParaRPr lang="en-US" sz="2000" dirty="0"/>
          </a:p>
        </p:txBody>
      </p:sp>
      <p:sp>
        <p:nvSpPr>
          <p:cNvPr id="6" name="Text 4"/>
          <p:cNvSpPr/>
          <p:nvPr/>
        </p:nvSpPr>
        <p:spPr>
          <a:xfrm>
            <a:off x="566928" y="3017520"/>
            <a:ext cx="11064240" cy="146304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주의 — 이름은 집중이지만 사람의 집중력이 아니다. 조각들 사이의 관계를 숫자로 계산하는 일이다.</a:t>
            </a:r>
            <a:endParaRPr lang="en-US" sz="1700" dirty="0"/>
          </a:p>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예 — ‘확정됩니다’를 이해할 때 ‘이의신청’·‘처분’을 강하게 참고해, 문맥이 반영된 새 표현이 만들어진다.</a:t>
            </a:r>
            <a:endParaRPr lang="en-US" sz="1700" dirty="0"/>
          </a:p>
        </p:txBody>
      </p:sp>
      <p:sp>
        <p:nvSpPr>
          <p:cNvPr id="7" name="Text 5"/>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정충원</a:t>
            </a:r>
            <a:endParaRPr lang="en-US" sz="950" dirty="0"/>
          </a:p>
        </p:txBody>
      </p:sp>
      <p:sp>
        <p:nvSpPr>
          <p:cNvPr id="8" name="Text 6"/>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세 가지가 나눠 맡는다</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도서관에서 책을 찾듯 — Q · K · V</a:t>
            </a:r>
            <a:endParaRPr lang="en-US" sz="2800" dirty="0"/>
          </a:p>
        </p:txBody>
      </p:sp>
      <p:sp>
        <p:nvSpPr>
          <p:cNvPr id="5" name="Shape 3"/>
          <p:cNvSpPr/>
          <p:nvPr/>
        </p:nvSpPr>
        <p:spPr>
          <a:xfrm>
            <a:off x="566928" y="2148840"/>
            <a:ext cx="3493008" cy="1828800"/>
          </a:xfrm>
          <a:prstGeom prst="roundRect">
            <a:avLst>
              <a:gd name="adj" fmla="val 4500"/>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6" name="Text 4"/>
          <p:cNvSpPr/>
          <p:nvPr/>
        </p:nvSpPr>
        <p:spPr>
          <a:xfrm>
            <a:off x="786384" y="2322576"/>
            <a:ext cx="3054096" cy="256032"/>
          </a:xfrm>
          <a:prstGeom prst="rect">
            <a:avLst/>
          </a:prstGeom>
          <a:noFill/>
          <a:ln/>
        </p:spPr>
        <p:txBody>
          <a:bodyPr wrap="square" rtlCol="0" anchor="ctr"/>
          <a:lstStyle/>
          <a:p>
            <a:pPr indent="0" marL="0">
              <a:buNone/>
            </a:pPr>
            <a:r>
              <a:rPr lang="en-US" sz="1000" b="1" spc="150" kern="0" dirty="0">
                <a:solidFill>
                  <a:srgbClr val="9E0E1C"/>
                </a:solidFill>
                <a:latin typeface="Noto Sans KR" pitchFamily="34" charset="0"/>
                <a:ea typeface="Noto Sans KR" pitchFamily="34" charset="-122"/>
                <a:cs typeface="Noto Sans KR" pitchFamily="34" charset="-120"/>
              </a:rPr>
              <a:t>QUERY · 큐</a:t>
            </a:r>
            <a:endParaRPr lang="en-US" sz="1000" dirty="0"/>
          </a:p>
        </p:txBody>
      </p:sp>
      <p:sp>
        <p:nvSpPr>
          <p:cNvPr id="7" name="Text 5"/>
          <p:cNvSpPr/>
          <p:nvPr/>
        </p:nvSpPr>
        <p:spPr>
          <a:xfrm>
            <a:off x="786384" y="2596896"/>
            <a:ext cx="3054096" cy="475488"/>
          </a:xfrm>
          <a:prstGeom prst="rect">
            <a:avLst/>
          </a:prstGeom>
          <a:noFill/>
          <a:ln/>
        </p:spPr>
        <p:txBody>
          <a:bodyPr wrap="square" rtlCol="0" anchor="t"/>
          <a:lstStyle/>
          <a:p>
            <a:pPr indent="0" marL="0">
              <a:buNone/>
            </a:pPr>
            <a:r>
              <a:rPr lang="en-US" sz="1700" b="1" dirty="0">
                <a:solidFill>
                  <a:srgbClr val="9E0E1C"/>
                </a:solidFill>
                <a:latin typeface="Noto Sans KR" pitchFamily="34" charset="0"/>
                <a:ea typeface="Noto Sans KR" pitchFamily="34" charset="-122"/>
                <a:cs typeface="Noto Sans KR" pitchFamily="34" charset="-120"/>
              </a:rPr>
              <a:t>질문 카드</a:t>
            </a:r>
            <a:endParaRPr lang="en-US" sz="1700" dirty="0"/>
          </a:p>
        </p:txBody>
      </p:sp>
      <p:sp>
        <p:nvSpPr>
          <p:cNvPr id="8" name="Text 6"/>
          <p:cNvSpPr/>
          <p:nvPr/>
        </p:nvSpPr>
        <p:spPr>
          <a:xfrm>
            <a:off x="786384" y="3081528"/>
            <a:ext cx="3054096" cy="73152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나를 이해하려면 무슨 정보가 필요하지?</a:t>
            </a:r>
            <a:endParaRPr lang="en-US" sz="1300" dirty="0"/>
          </a:p>
        </p:txBody>
      </p:sp>
      <p:sp>
        <p:nvSpPr>
          <p:cNvPr id="9" name="Shape 7"/>
          <p:cNvSpPr/>
          <p:nvPr/>
        </p:nvSpPr>
        <p:spPr>
          <a:xfrm>
            <a:off x="4352544" y="2148840"/>
            <a:ext cx="3493008" cy="1828800"/>
          </a:xfrm>
          <a:prstGeom prst="roundRect">
            <a:avLst>
              <a:gd name="adj" fmla="val 4500"/>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10" name="Text 8"/>
          <p:cNvSpPr/>
          <p:nvPr/>
        </p:nvSpPr>
        <p:spPr>
          <a:xfrm>
            <a:off x="4572000" y="2322576"/>
            <a:ext cx="3054096" cy="256032"/>
          </a:xfrm>
          <a:prstGeom prst="rect">
            <a:avLst/>
          </a:prstGeom>
          <a:noFill/>
          <a:ln/>
        </p:spPr>
        <p:txBody>
          <a:bodyPr wrap="square" rtlCol="0" anchor="ctr"/>
          <a:lstStyle/>
          <a:p>
            <a:pPr indent="0" marL="0">
              <a:buNone/>
            </a:pPr>
            <a:r>
              <a:rPr lang="en-US" sz="1000" b="1" spc="150" kern="0" dirty="0">
                <a:solidFill>
                  <a:srgbClr val="0E8C7E"/>
                </a:solidFill>
                <a:latin typeface="Noto Sans KR" pitchFamily="34" charset="0"/>
                <a:ea typeface="Noto Sans KR" pitchFamily="34" charset="-122"/>
                <a:cs typeface="Noto Sans KR" pitchFamily="34" charset="-120"/>
              </a:rPr>
              <a:t>KEY · 케이</a:t>
            </a:r>
            <a:endParaRPr lang="en-US" sz="1000" dirty="0"/>
          </a:p>
        </p:txBody>
      </p:sp>
      <p:sp>
        <p:nvSpPr>
          <p:cNvPr id="11" name="Text 9"/>
          <p:cNvSpPr/>
          <p:nvPr/>
        </p:nvSpPr>
        <p:spPr>
          <a:xfrm>
            <a:off x="4572000" y="2596896"/>
            <a:ext cx="3054096" cy="475488"/>
          </a:xfrm>
          <a:prstGeom prst="rect">
            <a:avLst/>
          </a:prstGeom>
          <a:noFill/>
          <a:ln/>
        </p:spPr>
        <p:txBody>
          <a:bodyPr wrap="square" rtlCol="0" anchor="t"/>
          <a:lstStyle/>
          <a:p>
            <a:pPr indent="0" marL="0">
              <a:buNone/>
            </a:pPr>
            <a:r>
              <a:rPr lang="en-US" sz="1700" b="1" dirty="0">
                <a:solidFill>
                  <a:srgbClr val="0E8C7E"/>
                </a:solidFill>
                <a:latin typeface="Noto Sans KR" pitchFamily="34" charset="0"/>
                <a:ea typeface="Noto Sans KR" pitchFamily="34" charset="-122"/>
                <a:cs typeface="Noto Sans KR" pitchFamily="34" charset="-120"/>
              </a:rPr>
              <a:t>색인표</a:t>
            </a:r>
            <a:endParaRPr lang="en-US" sz="1700" dirty="0"/>
          </a:p>
        </p:txBody>
      </p:sp>
      <p:sp>
        <p:nvSpPr>
          <p:cNvPr id="12" name="Text 10"/>
          <p:cNvSpPr/>
          <p:nvPr/>
        </p:nvSpPr>
        <p:spPr>
          <a:xfrm>
            <a:off x="4572000" y="3081528"/>
            <a:ext cx="3054096" cy="73152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나는 이런 정보와 관련 있어 (단서)</a:t>
            </a:r>
            <a:endParaRPr lang="en-US" sz="1300" dirty="0"/>
          </a:p>
        </p:txBody>
      </p:sp>
      <p:sp>
        <p:nvSpPr>
          <p:cNvPr id="13" name="Shape 11"/>
          <p:cNvSpPr/>
          <p:nvPr/>
        </p:nvSpPr>
        <p:spPr>
          <a:xfrm>
            <a:off x="8138160" y="2148840"/>
            <a:ext cx="3493008" cy="1828800"/>
          </a:xfrm>
          <a:prstGeom prst="roundRect">
            <a:avLst>
              <a:gd name="adj" fmla="val 4500"/>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14" name="Text 12"/>
          <p:cNvSpPr/>
          <p:nvPr/>
        </p:nvSpPr>
        <p:spPr>
          <a:xfrm>
            <a:off x="8357616" y="2322576"/>
            <a:ext cx="3054096" cy="256032"/>
          </a:xfrm>
          <a:prstGeom prst="rect">
            <a:avLst/>
          </a:prstGeom>
          <a:noFill/>
          <a:ln/>
        </p:spPr>
        <p:txBody>
          <a:bodyPr wrap="square" rtlCol="0" anchor="ctr"/>
          <a:lstStyle/>
          <a:p>
            <a:pPr indent="0" marL="0">
              <a:buNone/>
            </a:pPr>
            <a:r>
              <a:rPr lang="en-US" sz="1000" b="1" spc="150" kern="0" dirty="0">
                <a:solidFill>
                  <a:srgbClr val="B23A6B"/>
                </a:solidFill>
                <a:latin typeface="Noto Sans KR" pitchFamily="34" charset="0"/>
                <a:ea typeface="Noto Sans KR" pitchFamily="34" charset="-122"/>
                <a:cs typeface="Noto Sans KR" pitchFamily="34" charset="-120"/>
              </a:rPr>
              <a:t>VALUE · 브이</a:t>
            </a:r>
            <a:endParaRPr lang="en-US" sz="1000" dirty="0"/>
          </a:p>
        </p:txBody>
      </p:sp>
      <p:sp>
        <p:nvSpPr>
          <p:cNvPr id="15" name="Text 13"/>
          <p:cNvSpPr/>
          <p:nvPr/>
        </p:nvSpPr>
        <p:spPr>
          <a:xfrm>
            <a:off x="8357616" y="2596896"/>
            <a:ext cx="3054096" cy="475488"/>
          </a:xfrm>
          <a:prstGeom prst="rect">
            <a:avLst/>
          </a:prstGeom>
          <a:noFill/>
          <a:ln/>
        </p:spPr>
        <p:txBody>
          <a:bodyPr wrap="square" rtlCol="0" anchor="t"/>
          <a:lstStyle/>
          <a:p>
            <a:pPr indent="0" marL="0">
              <a:buNone/>
            </a:pPr>
            <a:r>
              <a:rPr lang="en-US" sz="1700" b="1" dirty="0">
                <a:solidFill>
                  <a:srgbClr val="B23A6B"/>
                </a:solidFill>
                <a:latin typeface="Noto Sans KR" pitchFamily="34" charset="0"/>
                <a:ea typeface="Noto Sans KR" pitchFamily="34" charset="-122"/>
                <a:cs typeface="Noto Sans KR" pitchFamily="34" charset="-120"/>
              </a:rPr>
              <a:t>책 내용</a:t>
            </a:r>
            <a:endParaRPr lang="en-US" sz="1700" dirty="0"/>
          </a:p>
        </p:txBody>
      </p:sp>
      <p:sp>
        <p:nvSpPr>
          <p:cNvPr id="16" name="Text 14"/>
          <p:cNvSpPr/>
          <p:nvPr/>
        </p:nvSpPr>
        <p:spPr>
          <a:xfrm>
            <a:off x="8357616" y="3081528"/>
            <a:ext cx="3054096" cy="73152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참고하기로 정한 곳에서 실제로 가져올 정보</a:t>
            </a:r>
            <a:endParaRPr lang="en-US" sz="1300" dirty="0"/>
          </a:p>
        </p:txBody>
      </p:sp>
      <p:sp>
        <p:nvSpPr>
          <p:cNvPr id="17" name="Text 15"/>
          <p:cNvSpPr/>
          <p:nvPr/>
        </p:nvSpPr>
        <p:spPr>
          <a:xfrm>
            <a:off x="566928" y="4343400"/>
            <a:ext cx="11064240" cy="64008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한 문장 — 질문 카드를 모든 색인표와 맞춰, 잘 맞는 책일수록 그 내용을 많이 가져와 섞는다.</a:t>
            </a:r>
            <a:endParaRPr lang="en-US" sz="1700" dirty="0"/>
          </a:p>
        </p:txBody>
      </p:sp>
      <p:sp>
        <p:nvSpPr>
          <p:cNvPr id="18" name="Text 16"/>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정충원</a:t>
            </a:r>
            <a:endParaRPr lang="en-US" sz="950" dirty="0"/>
          </a:p>
        </p:txBody>
      </p:sp>
      <p:sp>
        <p:nvSpPr>
          <p:cNvPr id="19" name="Text 17"/>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절차</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네 걸음이면 끝납니다</a:t>
            </a:r>
            <a:endParaRPr lang="en-US" sz="2800" dirty="0"/>
          </a:p>
        </p:txBody>
      </p:sp>
      <p:sp>
        <p:nvSpPr>
          <p:cNvPr id="5" name="Shape 3"/>
          <p:cNvSpPr/>
          <p:nvPr/>
        </p:nvSpPr>
        <p:spPr>
          <a:xfrm>
            <a:off x="566928" y="2011680"/>
            <a:ext cx="2546604" cy="1554480"/>
          </a:xfrm>
          <a:prstGeom prst="roundRect">
            <a:avLst>
              <a:gd name="adj" fmla="val 5294"/>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6" name="Text 4"/>
          <p:cNvSpPr/>
          <p:nvPr/>
        </p:nvSpPr>
        <p:spPr>
          <a:xfrm>
            <a:off x="786384" y="2185416"/>
            <a:ext cx="2107692"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하나</a:t>
            </a:r>
            <a:endParaRPr lang="en-US" sz="1000" dirty="0"/>
          </a:p>
        </p:txBody>
      </p:sp>
      <p:sp>
        <p:nvSpPr>
          <p:cNvPr id="7" name="Text 5"/>
          <p:cNvSpPr/>
          <p:nvPr/>
        </p:nvSpPr>
        <p:spPr>
          <a:xfrm>
            <a:off x="786384" y="2459736"/>
            <a:ext cx="2107692"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질문 카드</a:t>
            </a:r>
            <a:endParaRPr lang="en-US" sz="1700" dirty="0"/>
          </a:p>
        </p:txBody>
      </p:sp>
      <p:sp>
        <p:nvSpPr>
          <p:cNvPr id="8" name="Text 6"/>
          <p:cNvSpPr/>
          <p:nvPr/>
        </p:nvSpPr>
        <p:spPr>
          <a:xfrm>
            <a:off x="786384" y="2944368"/>
            <a:ext cx="2107692" cy="45720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지금 조각에서 Q를 뽑음</a:t>
            </a:r>
            <a:endParaRPr lang="en-US" sz="1300" dirty="0"/>
          </a:p>
        </p:txBody>
      </p:sp>
      <p:sp>
        <p:nvSpPr>
          <p:cNvPr id="9" name="Shape 7"/>
          <p:cNvSpPr/>
          <p:nvPr/>
        </p:nvSpPr>
        <p:spPr>
          <a:xfrm>
            <a:off x="3406140" y="2011680"/>
            <a:ext cx="2546604" cy="1554480"/>
          </a:xfrm>
          <a:prstGeom prst="roundRect">
            <a:avLst>
              <a:gd name="adj" fmla="val 5294"/>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10" name="Text 8"/>
          <p:cNvSpPr/>
          <p:nvPr/>
        </p:nvSpPr>
        <p:spPr>
          <a:xfrm>
            <a:off x="3625596" y="2185416"/>
            <a:ext cx="2107692"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둘</a:t>
            </a:r>
            <a:endParaRPr lang="en-US" sz="1000" dirty="0"/>
          </a:p>
        </p:txBody>
      </p:sp>
      <p:sp>
        <p:nvSpPr>
          <p:cNvPr id="11" name="Text 9"/>
          <p:cNvSpPr/>
          <p:nvPr/>
        </p:nvSpPr>
        <p:spPr>
          <a:xfrm>
            <a:off x="3625596" y="2459736"/>
            <a:ext cx="2107692"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모든 색인표와 대조</a:t>
            </a:r>
            <a:endParaRPr lang="en-US" sz="1700" dirty="0"/>
          </a:p>
        </p:txBody>
      </p:sp>
      <p:sp>
        <p:nvSpPr>
          <p:cNvPr id="12" name="Text 10"/>
          <p:cNvSpPr/>
          <p:nvPr/>
        </p:nvSpPr>
        <p:spPr>
          <a:xfrm>
            <a:off x="3625596" y="2944368"/>
            <a:ext cx="2107692" cy="45720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Q를 모든 K와 맞춰 점수</a:t>
            </a:r>
            <a:endParaRPr lang="en-US" sz="1300" dirty="0"/>
          </a:p>
        </p:txBody>
      </p:sp>
      <p:sp>
        <p:nvSpPr>
          <p:cNvPr id="13" name="Shape 11"/>
          <p:cNvSpPr/>
          <p:nvPr/>
        </p:nvSpPr>
        <p:spPr>
          <a:xfrm>
            <a:off x="6245352" y="2011680"/>
            <a:ext cx="2546604" cy="1554480"/>
          </a:xfrm>
          <a:prstGeom prst="roundRect">
            <a:avLst>
              <a:gd name="adj" fmla="val 5294"/>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14" name="Text 12"/>
          <p:cNvSpPr/>
          <p:nvPr/>
        </p:nvSpPr>
        <p:spPr>
          <a:xfrm>
            <a:off x="6464808" y="2185416"/>
            <a:ext cx="2107692"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셋</a:t>
            </a:r>
            <a:endParaRPr lang="en-US" sz="1000" dirty="0"/>
          </a:p>
        </p:txBody>
      </p:sp>
      <p:sp>
        <p:nvSpPr>
          <p:cNvPr id="15" name="Text 13"/>
          <p:cNvSpPr/>
          <p:nvPr/>
        </p:nvSpPr>
        <p:spPr>
          <a:xfrm>
            <a:off x="6464808" y="2459736"/>
            <a:ext cx="2107692"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점수를 비율로</a:t>
            </a:r>
            <a:endParaRPr lang="en-US" sz="1700" dirty="0"/>
          </a:p>
        </p:txBody>
      </p:sp>
      <p:sp>
        <p:nvSpPr>
          <p:cNvPr id="16" name="Text 14"/>
          <p:cNvSpPr/>
          <p:nvPr/>
        </p:nvSpPr>
        <p:spPr>
          <a:xfrm>
            <a:off x="6464808" y="2944368"/>
            <a:ext cx="2107692" cy="45720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다 더해 1이 되게</a:t>
            </a:r>
            <a:endParaRPr lang="en-US" sz="1300" dirty="0"/>
          </a:p>
        </p:txBody>
      </p:sp>
      <p:sp>
        <p:nvSpPr>
          <p:cNvPr id="17" name="Shape 15"/>
          <p:cNvSpPr/>
          <p:nvPr/>
        </p:nvSpPr>
        <p:spPr>
          <a:xfrm>
            <a:off x="9084564" y="2011680"/>
            <a:ext cx="2546604" cy="1554480"/>
          </a:xfrm>
          <a:prstGeom prst="roundRect">
            <a:avLst>
              <a:gd name="adj" fmla="val 5294"/>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18" name="Text 16"/>
          <p:cNvSpPr/>
          <p:nvPr/>
        </p:nvSpPr>
        <p:spPr>
          <a:xfrm>
            <a:off x="9304020" y="2185416"/>
            <a:ext cx="2107692"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넷</a:t>
            </a:r>
            <a:endParaRPr lang="en-US" sz="1000" dirty="0"/>
          </a:p>
        </p:txBody>
      </p:sp>
      <p:sp>
        <p:nvSpPr>
          <p:cNvPr id="19" name="Text 17"/>
          <p:cNvSpPr/>
          <p:nvPr/>
        </p:nvSpPr>
        <p:spPr>
          <a:xfrm>
            <a:off x="9304020" y="2459736"/>
            <a:ext cx="2107692"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내용을 섞음</a:t>
            </a:r>
            <a:endParaRPr lang="en-US" sz="1700" dirty="0"/>
          </a:p>
        </p:txBody>
      </p:sp>
      <p:sp>
        <p:nvSpPr>
          <p:cNvPr id="20" name="Text 18"/>
          <p:cNvSpPr/>
          <p:nvPr/>
        </p:nvSpPr>
        <p:spPr>
          <a:xfrm>
            <a:off x="9304020" y="2944368"/>
            <a:ext cx="2107692" cy="45720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그 비율만큼 V를</a:t>
            </a:r>
            <a:endParaRPr lang="en-US" sz="1300" dirty="0"/>
          </a:p>
        </p:txBody>
      </p:sp>
      <p:sp>
        <p:nvSpPr>
          <p:cNvPr id="21" name="Shape 19"/>
          <p:cNvSpPr/>
          <p:nvPr/>
        </p:nvSpPr>
        <p:spPr>
          <a:xfrm>
            <a:off x="566928" y="3749040"/>
            <a:ext cx="11064240" cy="685800"/>
          </a:xfrm>
          <a:prstGeom prst="roundRect">
            <a:avLst>
              <a:gd name="adj" fmla="val 9333"/>
            </a:avLst>
          </a:prstGeom>
          <a:solidFill>
            <a:srgbClr val="FFFFFF"/>
          </a:solidFill>
          <a:ln w="12700">
            <a:solidFill>
              <a:srgbClr val="E8E3D9"/>
            </a:solidFill>
            <a:prstDash val="solid"/>
          </a:ln>
          <a:effectLst>
            <a:outerShdw sx="100000" sy="100000" kx="0" ky="0" algn="bl" rotWithShape="0" blurRad="76200" dist="25400" dir="5400000">
              <a:srgbClr val="6E6A62">
                <a:alpha val="16000"/>
              </a:srgbClr>
            </a:outerShdw>
          </a:effectLst>
        </p:spPr>
      </p:sp>
      <p:sp>
        <p:nvSpPr>
          <p:cNvPr id="22" name="Text 20"/>
          <p:cNvSpPr/>
          <p:nvPr/>
        </p:nvSpPr>
        <p:spPr>
          <a:xfrm>
            <a:off x="786384" y="3767328"/>
            <a:ext cx="10607040" cy="649224"/>
          </a:xfrm>
          <a:prstGeom prst="rect">
            <a:avLst/>
          </a:prstGeom>
          <a:noFill/>
          <a:ln/>
        </p:spPr>
        <p:txBody>
          <a:bodyPr wrap="square" rtlCol="0" anchor="ctr"/>
          <a:lstStyle/>
          <a:p>
            <a:pPr indent="0" marL="0">
              <a:buNone/>
            </a:pPr>
            <a:r>
              <a:rPr lang="en-US" sz="1500" dirty="0">
                <a:solidFill>
                  <a:srgbClr val="1A1813"/>
                </a:solidFill>
                <a:latin typeface="Noto Sans KR" pitchFamily="34" charset="0"/>
                <a:ea typeface="Noto Sans KR" pitchFamily="34" charset="-122"/>
                <a:cs typeface="Noto Sans KR" pitchFamily="34" charset="-120"/>
              </a:rPr>
              <a:t>Attention(Q, K, V) = softmax( QKᵀ / √dₖ ) · V</a:t>
            </a:r>
            <a:endParaRPr lang="en-US" sz="1500" dirty="0"/>
          </a:p>
        </p:txBody>
      </p:sp>
      <p:sp>
        <p:nvSpPr>
          <p:cNvPr id="23" name="Text 21"/>
          <p:cNvSpPr/>
          <p:nvPr/>
        </p:nvSpPr>
        <p:spPr>
          <a:xfrm>
            <a:off x="566928" y="4617720"/>
            <a:ext cx="11064240" cy="64008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읽는 법 — 큐·케이를 맞춰 점수(QKᵀ), 소프트맥스로 비율, 브이를 곱해 섞는다.</a:t>
            </a:r>
            <a:endParaRPr lang="en-US" sz="1700" dirty="0"/>
          </a:p>
        </p:txBody>
      </p:sp>
      <p:sp>
        <p:nvSpPr>
          <p:cNvPr id="24" name="Text 2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정충원</a:t>
            </a:r>
            <a:endParaRPr lang="en-US" sz="950" dirty="0"/>
          </a:p>
        </p:txBody>
      </p:sp>
      <p:sp>
        <p:nvSpPr>
          <p:cNvPr id="25" name="Text 2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813"/>
        </a:solidFill>
      </p:bgPr>
    </p:bg>
    <p:spTree>
      <p:nvGrpSpPr>
        <p:cNvPr id="1" name=""/>
        <p:cNvGrpSpPr/>
        <p:nvPr/>
      </p:nvGrpSpPr>
      <p:grpSpPr>
        <a:xfrm>
          <a:off x="0" y="0"/>
          <a:ext cx="0" cy="0"/>
          <a:chOff x="0" y="0"/>
          <a:chExt cx="0" cy="0"/>
        </a:xfrm>
      </p:grpSpPr>
      <p:sp>
        <p:nvSpPr>
          <p:cNvPr id="2" name="Text 0"/>
          <p:cNvSpPr/>
          <p:nvPr/>
        </p:nvSpPr>
        <p:spPr>
          <a:xfrm>
            <a:off x="7772400" y="182880"/>
            <a:ext cx="4114800" cy="5943600"/>
          </a:xfrm>
          <a:prstGeom prst="rect">
            <a:avLst/>
          </a:prstGeom>
          <a:noFill/>
          <a:ln/>
        </p:spPr>
        <p:txBody>
          <a:bodyPr wrap="square" rtlCol="0" anchor="t"/>
          <a:lstStyle/>
          <a:p>
            <a:pPr algn="r" indent="0" marL="0">
              <a:buNone/>
            </a:pPr>
            <a:r>
              <a:rPr lang="en-US" sz="30000" b="1" dirty="0">
                <a:solidFill>
                  <a:srgbClr val="221E1A"/>
                </a:solidFill>
                <a:latin typeface="Noto Sans KR" pitchFamily="34" charset="0"/>
                <a:ea typeface="Noto Sans KR" pitchFamily="34" charset="-122"/>
                <a:cs typeface="Noto Sans KR" pitchFamily="34" charset="-120"/>
              </a:rPr>
              <a:t>2</a:t>
            </a:r>
            <a:endParaRPr lang="en-US" sz="30000" dirty="0"/>
          </a:p>
        </p:txBody>
      </p:sp>
      <p:sp>
        <p:nvSpPr>
          <p:cNvPr id="3" name="Shape 1"/>
          <p:cNvSpPr/>
          <p:nvPr/>
        </p:nvSpPr>
        <p:spPr>
          <a:xfrm>
            <a:off x="566928" y="548640"/>
            <a:ext cx="118872" cy="118872"/>
          </a:xfrm>
          <a:prstGeom prst="rect">
            <a:avLst/>
          </a:prstGeom>
          <a:solidFill>
            <a:srgbClr val="FF6B74"/>
          </a:solidFill>
          <a:ln/>
        </p:spPr>
      </p:sp>
      <p:sp>
        <p:nvSpPr>
          <p:cNvPr id="4" name="Text 2"/>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FF6B74"/>
                </a:solidFill>
                <a:latin typeface="Noto Sans KR" pitchFamily="34" charset="0"/>
                <a:ea typeface="Noto Sans KR" pitchFamily="34" charset="-122"/>
                <a:cs typeface="Noto Sans KR" pitchFamily="34" charset="-120"/>
              </a:rPr>
              <a:t>PART 2</a:t>
            </a:r>
            <a:endParaRPr lang="en-US" sz="1150" dirty="0"/>
          </a:p>
        </p:txBody>
      </p:sp>
      <p:sp>
        <p:nvSpPr>
          <p:cNvPr id="5" name="Text 3"/>
          <p:cNvSpPr/>
          <p:nvPr/>
        </p:nvSpPr>
        <p:spPr>
          <a:xfrm>
            <a:off x="566928" y="2331720"/>
            <a:ext cx="7406640" cy="1600200"/>
          </a:xfrm>
          <a:prstGeom prst="rect">
            <a:avLst/>
          </a:prstGeom>
          <a:noFill/>
          <a:ln/>
        </p:spPr>
        <p:txBody>
          <a:bodyPr wrap="square" rtlCol="0" anchor="t"/>
          <a:lstStyle/>
          <a:p>
            <a:pPr indent="0" marL="0">
              <a:lnSpc>
                <a:spcPts val="4000"/>
              </a:lnSpc>
              <a:buNone/>
            </a:pPr>
            <a:r>
              <a:rPr lang="en-US" sz="3200" b="1" dirty="0">
                <a:solidFill>
                  <a:srgbClr val="FFFFFF"/>
                </a:solidFill>
                <a:latin typeface="Noto Sans KR" pitchFamily="34" charset="0"/>
                <a:ea typeface="Noto Sans KR" pitchFamily="34" charset="-122"/>
                <a:cs typeface="Noto Sans KR" pitchFamily="34" charset="-120"/>
              </a:rPr>
              <a:t>어텐션 심화 — 실습 · 멀티헤드 · 미래 가리기</a:t>
            </a:r>
            <a:endParaRPr lang="en-US" sz="3200" dirty="0"/>
          </a:p>
        </p:txBody>
      </p:sp>
      <p:sp>
        <p:nvSpPr>
          <p:cNvPr id="6" name="Text 4"/>
          <p:cNvSpPr/>
          <p:nvPr/>
        </p:nvSpPr>
        <p:spPr>
          <a:xfrm>
            <a:off x="566928" y="4069080"/>
            <a:ext cx="7132320" cy="457200"/>
          </a:xfrm>
          <a:prstGeom prst="rect">
            <a:avLst/>
          </a:prstGeom>
          <a:noFill/>
          <a:ln/>
        </p:spPr>
        <p:txBody>
          <a:bodyPr wrap="square" rtlCol="0" anchor="ctr"/>
          <a:lstStyle/>
          <a:p>
            <a:pPr indent="0" marL="0">
              <a:buNone/>
            </a:pPr>
            <a:r>
              <a:rPr lang="en-US" sz="1800" b="1" dirty="0">
                <a:solidFill>
                  <a:srgbClr val="FF6B74"/>
                </a:solidFill>
                <a:latin typeface="Noto Sans KR" pitchFamily="34" charset="0"/>
                <a:ea typeface="Noto Sans KR" pitchFamily="34" charset="-122"/>
                <a:cs typeface="Noto Sans KR" pitchFamily="34" charset="-120"/>
              </a:rPr>
              <a:t>발표자 전세환</a:t>
            </a:r>
            <a:endParaRPr lang="en-US" sz="1800" dirty="0"/>
          </a:p>
        </p:txBody>
      </p:sp>
      <p:sp>
        <p:nvSpPr>
          <p:cNvPr id="7" name="Text 5"/>
          <p:cNvSpPr/>
          <p:nvPr/>
        </p:nvSpPr>
        <p:spPr>
          <a:xfrm>
            <a:off x="566928" y="4709160"/>
            <a:ext cx="7315200" cy="1188720"/>
          </a:xfrm>
          <a:prstGeom prst="rect">
            <a:avLst/>
          </a:prstGeom>
          <a:noFill/>
          <a:ln/>
        </p:spPr>
        <p:txBody>
          <a:bodyPr wrap="square" rtlCol="0" anchor="t"/>
          <a:lstStyle/>
          <a:p>
            <a:pPr indent="0" marL="0">
              <a:lnSpc>
                <a:spcPts val="2200"/>
              </a:lnSpc>
              <a:buNone/>
            </a:pPr>
            <a:r>
              <a:rPr lang="en-US" sz="1400" dirty="0">
                <a:solidFill>
                  <a:srgbClr val="C9C3B8"/>
                </a:solidFill>
                <a:latin typeface="Noto Sans KR" pitchFamily="34" charset="0"/>
                <a:ea typeface="Noto Sans KR" pitchFamily="34" charset="-122"/>
                <a:cs typeface="Noto Sans KR" pitchFamily="34" charset="-120"/>
              </a:rPr>
              <a:t>실제 문장 실습 · 같은 글자 다른 뜻 · 오해 · 멀티헤드 · √dₖ · Causal Mask</a:t>
            </a:r>
            <a:endParaRPr lang="en-US" sz="1400" dirty="0"/>
          </a:p>
        </p:txBody>
      </p:sp>
      <p:sp>
        <p:nvSpPr>
          <p:cNvPr id="8" name="Text 6"/>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6E6A62"/>
                </a:solidFill>
                <a:latin typeface="Noto Sans KR" pitchFamily="34" charset="0"/>
                <a:ea typeface="Noto Sans KR" pitchFamily="34" charset="-122"/>
                <a:cs typeface="Noto Sans KR" pitchFamily="34" charset="-120"/>
              </a:rPr>
              <a:t>티처팀 · 트랜스포머 발표</a:t>
            </a:r>
            <a:endParaRPr lang="en-US" sz="950" dirty="0"/>
          </a:p>
        </p:txBody>
      </p:sp>
      <p:sp>
        <p:nvSpPr>
          <p:cNvPr id="9" name="Text 7"/>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FF6B74"/>
                </a:solidFill>
                <a:latin typeface="Noto Sans KR" pitchFamily="34" charset="0"/>
                <a:ea typeface="Noto Sans KR" pitchFamily="34" charset="-122"/>
                <a:cs typeface="Noto Sans K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직접 보기 · 실제 문장</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‘확정됩니다’는 무엇을 보는가</a:t>
            </a:r>
            <a:endParaRPr lang="en-US" sz="2800" dirty="0"/>
          </a:p>
        </p:txBody>
      </p:sp>
      <p:sp>
        <p:nvSpPr>
          <p:cNvPr id="5" name="Text 3"/>
          <p:cNvSpPr/>
          <p:nvPr/>
        </p:nvSpPr>
        <p:spPr>
          <a:xfrm>
            <a:off x="566928" y="1965960"/>
            <a:ext cx="11064240" cy="868680"/>
          </a:xfrm>
          <a:prstGeom prst="rect">
            <a:avLst/>
          </a:prstGeom>
          <a:noFill/>
          <a:ln/>
        </p:spPr>
        <p:txBody>
          <a:bodyPr wrap="square" rtlCol="0" anchor="t"/>
          <a:lstStyle/>
          <a:p>
            <a:pPr indent="0" marL="0">
              <a:lnSpc>
                <a:spcPts val="2600"/>
              </a:lnSpc>
              <a:buNone/>
            </a:pPr>
            <a:r>
              <a:rPr lang="en-US" sz="2000" b="1" dirty="0">
                <a:solidFill>
                  <a:srgbClr val="1A1813"/>
                </a:solidFill>
                <a:latin typeface="Noto Sans KR" pitchFamily="34" charset="0"/>
                <a:ea typeface="Noto Sans KR" pitchFamily="34" charset="-122"/>
                <a:cs typeface="Noto Sans KR" pitchFamily="34" charset="-120"/>
              </a:rPr>
              <a:t>이의신청 기간이 지나면 처분은 확정됩니다.</a:t>
            </a:r>
            <a:endParaRPr lang="en-US" sz="2000" dirty="0"/>
          </a:p>
        </p:txBody>
      </p:sp>
      <p:sp>
        <p:nvSpPr>
          <p:cNvPr id="6" name="Text 4"/>
          <p:cNvSpPr/>
          <p:nvPr/>
        </p:nvSpPr>
        <p:spPr>
          <a:xfrm>
            <a:off x="566928" y="2834640"/>
            <a:ext cx="11064240" cy="146304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‘확정됩니다’를 만들 때 — ‘이의신청’을 가장 강하게, ‘지나면’은 조건으로, ‘처분은’은 대상으로 끌어옴</a:t>
            </a:r>
            <a:endParaRPr lang="en-US" sz="1700" dirty="0"/>
          </a:p>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한 조각의 참고량을 다 더하면 1 (정해진 관심을 나눠 씀) · 숫자는 설명용 예시값</a:t>
            </a:r>
            <a:endParaRPr lang="en-US" sz="1700" dirty="0"/>
          </a:p>
        </p:txBody>
      </p:sp>
      <p:sp>
        <p:nvSpPr>
          <p:cNvPr id="7" name="Text 5"/>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전세환</a:t>
            </a:r>
            <a:endParaRPr lang="en-US" sz="950" dirty="0"/>
          </a:p>
        </p:txBody>
      </p:sp>
      <p:sp>
        <p:nvSpPr>
          <p:cNvPr id="8" name="Text 6"/>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직접 보기 · 같은 글자, 다른 뜻</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같은 글자가 갈라지는 순간</a:t>
            </a:r>
            <a:endParaRPr lang="en-US" sz="2800" dirty="0"/>
          </a:p>
        </p:txBody>
      </p:sp>
      <p:sp>
        <p:nvSpPr>
          <p:cNvPr id="5" name="Shape 3"/>
          <p:cNvSpPr/>
          <p:nvPr/>
        </p:nvSpPr>
        <p:spPr>
          <a:xfrm>
            <a:off x="566928" y="2148840"/>
            <a:ext cx="5385816" cy="1828800"/>
          </a:xfrm>
          <a:prstGeom prst="roundRect">
            <a:avLst>
              <a:gd name="adj" fmla="val 4500"/>
            </a:avLst>
          </a:prstGeom>
          <a:solidFill>
            <a:srgbClr val="FBE7E8"/>
          </a:solidFill>
          <a:ln w="15875">
            <a:solidFill>
              <a:srgbClr val="CE1225"/>
            </a:solidFill>
            <a:prstDash val="solid"/>
          </a:ln>
          <a:effectLst>
            <a:outerShdw sx="100000" sy="100000" kx="0" ky="0" algn="bl" rotWithShape="0" blurRad="88900" dist="38100" dir="5400000">
              <a:srgbClr val="6E6A62">
                <a:alpha val="18000"/>
              </a:srgbClr>
            </a:outerShdw>
          </a:effectLst>
        </p:spPr>
      </p:sp>
      <p:sp>
        <p:nvSpPr>
          <p:cNvPr id="6" name="Text 4"/>
          <p:cNvSpPr/>
          <p:nvPr/>
        </p:nvSpPr>
        <p:spPr>
          <a:xfrm>
            <a:off x="786384" y="2322576"/>
            <a:ext cx="4946904" cy="256032"/>
          </a:xfrm>
          <a:prstGeom prst="rect">
            <a:avLst/>
          </a:prstGeom>
          <a:noFill/>
          <a:ln/>
        </p:spPr>
        <p:txBody>
          <a:bodyPr wrap="square" rtlCol="0" anchor="ctr"/>
          <a:lstStyle/>
          <a:p>
            <a:pPr indent="0" marL="0">
              <a:buNone/>
            </a:pPr>
            <a:r>
              <a:rPr lang="en-US" sz="1000" b="1" spc="150" kern="0" dirty="0">
                <a:solidFill>
                  <a:srgbClr val="9E0E1C"/>
                </a:solidFill>
                <a:latin typeface="Noto Sans KR" pitchFamily="34" charset="0"/>
                <a:ea typeface="Noto Sans KR" pitchFamily="34" charset="-122"/>
                <a:cs typeface="Noto Sans KR" pitchFamily="34" charset="-120"/>
              </a:rPr>
              <a:t>금융기관</a:t>
            </a:r>
            <a:endParaRPr lang="en-US" sz="1000" dirty="0"/>
          </a:p>
        </p:txBody>
      </p:sp>
      <p:sp>
        <p:nvSpPr>
          <p:cNvPr id="7" name="Text 5"/>
          <p:cNvSpPr/>
          <p:nvPr/>
        </p:nvSpPr>
        <p:spPr>
          <a:xfrm>
            <a:off x="786384" y="2596896"/>
            <a:ext cx="4946904"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나는 은행에 예금했다</a:t>
            </a:r>
            <a:endParaRPr lang="en-US" sz="1700" dirty="0"/>
          </a:p>
        </p:txBody>
      </p:sp>
      <p:sp>
        <p:nvSpPr>
          <p:cNvPr id="8" name="Text 6"/>
          <p:cNvSpPr/>
          <p:nvPr/>
        </p:nvSpPr>
        <p:spPr>
          <a:xfrm>
            <a:off x="786384" y="3081528"/>
            <a:ext cx="4946904" cy="73152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강한 단서: 예금했다 → 돈을 맡기는 곳</a:t>
            </a:r>
            <a:endParaRPr lang="en-US" sz="1300" dirty="0"/>
          </a:p>
        </p:txBody>
      </p:sp>
      <p:sp>
        <p:nvSpPr>
          <p:cNvPr id="9" name="Shape 7"/>
          <p:cNvSpPr/>
          <p:nvPr/>
        </p:nvSpPr>
        <p:spPr>
          <a:xfrm>
            <a:off x="6245352" y="2148840"/>
            <a:ext cx="5385816" cy="1828800"/>
          </a:xfrm>
          <a:prstGeom prst="roundRect">
            <a:avLst>
              <a:gd name="adj" fmla="val 4500"/>
            </a:avLst>
          </a:prstGeom>
          <a:solidFill>
            <a:srgbClr val="FBE7E8"/>
          </a:solidFill>
          <a:ln w="15875">
            <a:solidFill>
              <a:srgbClr val="CE1225"/>
            </a:solidFill>
            <a:prstDash val="solid"/>
          </a:ln>
          <a:effectLst>
            <a:outerShdw sx="100000" sy="100000" kx="0" ky="0" algn="bl" rotWithShape="0" blurRad="88900" dist="38100" dir="5400000">
              <a:srgbClr val="6E6A62">
                <a:alpha val="18000"/>
              </a:srgbClr>
            </a:outerShdw>
          </a:effectLst>
        </p:spPr>
      </p:sp>
      <p:sp>
        <p:nvSpPr>
          <p:cNvPr id="10" name="Text 8"/>
          <p:cNvSpPr/>
          <p:nvPr/>
        </p:nvSpPr>
        <p:spPr>
          <a:xfrm>
            <a:off x="6464808" y="2322576"/>
            <a:ext cx="4946904" cy="256032"/>
          </a:xfrm>
          <a:prstGeom prst="rect">
            <a:avLst/>
          </a:prstGeom>
          <a:noFill/>
          <a:ln/>
        </p:spPr>
        <p:txBody>
          <a:bodyPr wrap="square" rtlCol="0" anchor="ctr"/>
          <a:lstStyle/>
          <a:p>
            <a:pPr indent="0" marL="0">
              <a:buNone/>
            </a:pPr>
            <a:r>
              <a:rPr lang="en-US" sz="1000" b="1" spc="150" kern="0" dirty="0">
                <a:solidFill>
                  <a:srgbClr val="9E0E1C"/>
                </a:solidFill>
                <a:latin typeface="Noto Sans KR" pitchFamily="34" charset="0"/>
                <a:ea typeface="Noto Sans KR" pitchFamily="34" charset="-122"/>
                <a:cs typeface="Noto Sans KR" pitchFamily="34" charset="-120"/>
              </a:rPr>
              <a:t>식물</a:t>
            </a:r>
            <a:endParaRPr lang="en-US" sz="1000" dirty="0"/>
          </a:p>
        </p:txBody>
      </p:sp>
      <p:sp>
        <p:nvSpPr>
          <p:cNvPr id="11" name="Text 9"/>
          <p:cNvSpPr/>
          <p:nvPr/>
        </p:nvSpPr>
        <p:spPr>
          <a:xfrm>
            <a:off x="6464808" y="2596896"/>
            <a:ext cx="4946904"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강가의 은행나무가 노랗다</a:t>
            </a:r>
            <a:endParaRPr lang="en-US" sz="1700" dirty="0"/>
          </a:p>
        </p:txBody>
      </p:sp>
      <p:sp>
        <p:nvSpPr>
          <p:cNvPr id="12" name="Text 10"/>
          <p:cNvSpPr/>
          <p:nvPr/>
        </p:nvSpPr>
        <p:spPr>
          <a:xfrm>
            <a:off x="6464808" y="3081528"/>
            <a:ext cx="4946904" cy="73152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강한 단서: 강가 · 노랗다 → 나무</a:t>
            </a:r>
            <a:endParaRPr lang="en-US" sz="1300" dirty="0"/>
          </a:p>
        </p:txBody>
      </p:sp>
      <p:sp>
        <p:nvSpPr>
          <p:cNvPr id="13" name="Text 11"/>
          <p:cNvSpPr/>
          <p:nvPr/>
        </p:nvSpPr>
        <p:spPr>
          <a:xfrm>
            <a:off x="566928" y="4343400"/>
            <a:ext cx="11064240" cy="64008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글자는 같다. 주변에서 무엇을 끌어오는지가 달라지며 뜻이 갈린다 — 사람도 앞뒤 보고 판단한다.</a:t>
            </a:r>
            <a:endParaRPr lang="en-US" sz="1700" dirty="0"/>
          </a:p>
        </p:txBody>
      </p:sp>
      <p:sp>
        <p:nvSpPr>
          <p:cNvPr id="14" name="Text 1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전세환</a:t>
            </a:r>
            <a:endParaRPr lang="en-US" sz="950" dirty="0"/>
          </a:p>
        </p:txBody>
      </p:sp>
      <p:sp>
        <p:nvSpPr>
          <p:cNvPr id="15" name="Text 1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짚고 갈 것 · 오해</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이해가 아니라, 함께 등장한 흔적</a:t>
            </a:r>
            <a:endParaRPr lang="en-US" sz="2800" dirty="0"/>
          </a:p>
        </p:txBody>
      </p:sp>
      <p:sp>
        <p:nvSpPr>
          <p:cNvPr id="5" name="Shape 3"/>
          <p:cNvSpPr/>
          <p:nvPr/>
        </p:nvSpPr>
        <p:spPr>
          <a:xfrm>
            <a:off x="566928" y="2148840"/>
            <a:ext cx="5385816" cy="2011680"/>
          </a:xfrm>
          <a:prstGeom prst="roundRect">
            <a:avLst>
              <a:gd name="adj" fmla="val 4091"/>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6" name="Text 4"/>
          <p:cNvSpPr/>
          <p:nvPr/>
        </p:nvSpPr>
        <p:spPr>
          <a:xfrm>
            <a:off x="786384" y="2322576"/>
            <a:ext cx="4946904"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오해</a:t>
            </a:r>
            <a:endParaRPr lang="en-US" sz="1000" dirty="0"/>
          </a:p>
        </p:txBody>
      </p:sp>
      <p:sp>
        <p:nvSpPr>
          <p:cNvPr id="7" name="Text 5"/>
          <p:cNvSpPr/>
          <p:nvPr/>
        </p:nvSpPr>
        <p:spPr>
          <a:xfrm>
            <a:off x="786384" y="2596896"/>
            <a:ext cx="4946904" cy="475488"/>
          </a:xfrm>
          <a:prstGeom prst="rect">
            <a:avLst/>
          </a:prstGeom>
          <a:noFill/>
          <a:ln/>
        </p:spPr>
        <p:txBody>
          <a:bodyPr wrap="square" rtlCol="0" anchor="t"/>
          <a:lstStyle/>
          <a:p>
            <a:pPr indent="0" marL="0">
              <a:buNone/>
            </a:pPr>
            <a:r>
              <a:rPr lang="en-US" sz="1700" b="1" strike="sngStrike" dirty="0">
                <a:solidFill>
                  <a:srgbClr val="8B8578"/>
                </a:solidFill>
                <a:latin typeface="Noto Sans KR" pitchFamily="34" charset="0"/>
                <a:ea typeface="Noto Sans KR" pitchFamily="34" charset="-122"/>
                <a:cs typeface="Noto Sans KR" pitchFamily="34" charset="-120"/>
              </a:rPr>
              <a:t>모델이 뜻을 이해한다</a:t>
            </a:r>
            <a:endParaRPr lang="en-US" sz="1700" dirty="0"/>
          </a:p>
        </p:txBody>
      </p:sp>
      <p:sp>
        <p:nvSpPr>
          <p:cNvPr id="8" name="Text 6"/>
          <p:cNvSpPr/>
          <p:nvPr/>
        </p:nvSpPr>
        <p:spPr>
          <a:xfrm>
            <a:off x="786384" y="3081528"/>
            <a:ext cx="4946904" cy="91440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아니다. 규정이나 사실을 알고 있는 게 아니다.</a:t>
            </a:r>
            <a:endParaRPr lang="en-US" sz="1300" dirty="0"/>
          </a:p>
        </p:txBody>
      </p:sp>
      <p:sp>
        <p:nvSpPr>
          <p:cNvPr id="9" name="Shape 7"/>
          <p:cNvSpPr/>
          <p:nvPr/>
        </p:nvSpPr>
        <p:spPr>
          <a:xfrm>
            <a:off x="6245352" y="2148840"/>
            <a:ext cx="5385816" cy="2011680"/>
          </a:xfrm>
          <a:prstGeom prst="roundRect">
            <a:avLst>
              <a:gd name="adj" fmla="val 4091"/>
            </a:avLst>
          </a:prstGeom>
          <a:solidFill>
            <a:srgbClr val="FBE7E8"/>
          </a:solidFill>
          <a:ln w="15875">
            <a:solidFill>
              <a:srgbClr val="CE1225"/>
            </a:solidFill>
            <a:prstDash val="solid"/>
          </a:ln>
          <a:effectLst>
            <a:outerShdw sx="100000" sy="100000" kx="0" ky="0" algn="bl" rotWithShape="0" blurRad="88900" dist="38100" dir="5400000">
              <a:srgbClr val="6E6A62">
                <a:alpha val="18000"/>
              </a:srgbClr>
            </a:outerShdw>
          </a:effectLst>
        </p:spPr>
      </p:sp>
      <p:sp>
        <p:nvSpPr>
          <p:cNvPr id="10" name="Text 8"/>
          <p:cNvSpPr/>
          <p:nvPr/>
        </p:nvSpPr>
        <p:spPr>
          <a:xfrm>
            <a:off x="6464808" y="2322576"/>
            <a:ext cx="4946904" cy="256032"/>
          </a:xfrm>
          <a:prstGeom prst="rect">
            <a:avLst/>
          </a:prstGeom>
          <a:noFill/>
          <a:ln/>
        </p:spPr>
        <p:txBody>
          <a:bodyPr wrap="square" rtlCol="0" anchor="ctr"/>
          <a:lstStyle/>
          <a:p>
            <a:pPr indent="0" marL="0">
              <a:buNone/>
            </a:pPr>
            <a:r>
              <a:rPr lang="en-US" sz="1000" b="1" spc="150" kern="0" dirty="0">
                <a:solidFill>
                  <a:srgbClr val="9E0E1C"/>
                </a:solidFill>
                <a:latin typeface="Noto Sans KR" pitchFamily="34" charset="0"/>
                <a:ea typeface="Noto Sans KR" pitchFamily="34" charset="-122"/>
                <a:cs typeface="Noto Sans KR" pitchFamily="34" charset="-120"/>
              </a:rPr>
              <a:t>실제</a:t>
            </a:r>
            <a:endParaRPr lang="en-US" sz="1000" dirty="0"/>
          </a:p>
        </p:txBody>
      </p:sp>
      <p:sp>
        <p:nvSpPr>
          <p:cNvPr id="11" name="Text 9"/>
          <p:cNvSpPr/>
          <p:nvPr/>
        </p:nvSpPr>
        <p:spPr>
          <a:xfrm>
            <a:off x="6464808" y="2596896"/>
            <a:ext cx="4946904"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관계를 학습했다</a:t>
            </a:r>
            <a:endParaRPr lang="en-US" sz="1700" dirty="0"/>
          </a:p>
        </p:txBody>
      </p:sp>
      <p:sp>
        <p:nvSpPr>
          <p:cNvPr id="12" name="Text 10"/>
          <p:cNvSpPr/>
          <p:nvPr/>
        </p:nvSpPr>
        <p:spPr>
          <a:xfrm>
            <a:off x="6464808" y="3081528"/>
            <a:ext cx="4946904" cy="91440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수많은 문장에서 어떤 조각이 함께 등장하는지 익혀, 관련 조각을 끌어와 섞는다.</a:t>
            </a:r>
            <a:endParaRPr lang="en-US" sz="1300" dirty="0"/>
          </a:p>
        </p:txBody>
      </p:sp>
      <p:sp>
        <p:nvSpPr>
          <p:cNvPr id="13" name="Text 11"/>
          <p:cNvSpPr/>
          <p:nvPr/>
        </p:nvSpPr>
        <p:spPr>
          <a:xfrm>
            <a:off x="566928" y="4526280"/>
            <a:ext cx="11064240" cy="64008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발표에서 꼭 — 어텐션은 사람의 집중력이 아니라, 관계를 숫자로 계산하는 절차.</a:t>
            </a:r>
            <a:endParaRPr lang="en-US" sz="1700" dirty="0"/>
          </a:p>
        </p:txBody>
      </p:sp>
      <p:sp>
        <p:nvSpPr>
          <p:cNvPr id="14" name="Text 1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전세환</a:t>
            </a:r>
            <a:endParaRPr lang="en-US" sz="950" dirty="0"/>
          </a:p>
        </p:txBody>
      </p:sp>
      <p:sp>
        <p:nvSpPr>
          <p:cNvPr id="15" name="Text 1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전세환 · 여기까지 개념 정리</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세 문장으로 남기면</a:t>
            </a:r>
            <a:endParaRPr lang="en-US" sz="2800" dirty="0"/>
          </a:p>
        </p:txBody>
      </p:sp>
      <p:sp>
        <p:nvSpPr>
          <p:cNvPr id="5" name="Shape 3"/>
          <p:cNvSpPr/>
          <p:nvPr/>
        </p:nvSpPr>
        <p:spPr>
          <a:xfrm>
            <a:off x="566928" y="2103120"/>
            <a:ext cx="11064240" cy="868680"/>
          </a:xfrm>
          <a:prstGeom prst="roundRect">
            <a:avLst>
              <a:gd name="adj" fmla="val 8421"/>
            </a:avLst>
          </a:prstGeom>
          <a:solidFill>
            <a:srgbClr val="FBE7E8"/>
          </a:solidFill>
          <a:ln w="12700">
            <a:solidFill>
              <a:srgbClr val="CE1225"/>
            </a:solidFill>
            <a:prstDash val="solid"/>
          </a:ln>
        </p:spPr>
      </p:sp>
      <p:sp>
        <p:nvSpPr>
          <p:cNvPr id="6" name="Text 4"/>
          <p:cNvSpPr/>
          <p:nvPr/>
        </p:nvSpPr>
        <p:spPr>
          <a:xfrm>
            <a:off x="841248" y="2103120"/>
            <a:ext cx="10515600" cy="868680"/>
          </a:xfrm>
          <a:prstGeom prst="rect">
            <a:avLst/>
          </a:prstGeom>
          <a:noFill/>
          <a:ln/>
        </p:spPr>
        <p:txBody>
          <a:bodyPr wrap="square" rtlCol="0" anchor="ctr"/>
          <a:lstStyle/>
          <a:p>
            <a:pPr indent="0" marL="0">
              <a:buNone/>
            </a:pPr>
            <a:r>
              <a:rPr lang="en-US" sz="1700" b="1" dirty="0">
                <a:solidFill>
                  <a:srgbClr val="1A1813"/>
                </a:solidFill>
                <a:latin typeface="Noto Sans KR" pitchFamily="34" charset="0"/>
                <a:ea typeface="Noto Sans KR" pitchFamily="34" charset="-122"/>
                <a:cs typeface="Noto Sans KR" pitchFamily="34" charset="-120"/>
              </a:rPr>
              <a:t>하나.  트랜스포머는 순환과 합성곱을 버리고 어텐션만 남겼다.</a:t>
            </a:r>
            <a:endParaRPr lang="en-US" sz="1700" dirty="0"/>
          </a:p>
        </p:txBody>
      </p:sp>
      <p:sp>
        <p:nvSpPr>
          <p:cNvPr id="7" name="Shape 5"/>
          <p:cNvSpPr/>
          <p:nvPr/>
        </p:nvSpPr>
        <p:spPr>
          <a:xfrm>
            <a:off x="566928" y="3154680"/>
            <a:ext cx="11064240" cy="868680"/>
          </a:xfrm>
          <a:prstGeom prst="roundRect">
            <a:avLst>
              <a:gd name="adj" fmla="val 8421"/>
            </a:avLst>
          </a:prstGeom>
          <a:solidFill>
            <a:srgbClr val="FBE7E8"/>
          </a:solidFill>
          <a:ln w="12700">
            <a:solidFill>
              <a:srgbClr val="CE1225"/>
            </a:solidFill>
            <a:prstDash val="solid"/>
          </a:ln>
        </p:spPr>
      </p:sp>
      <p:sp>
        <p:nvSpPr>
          <p:cNvPr id="8" name="Text 6"/>
          <p:cNvSpPr/>
          <p:nvPr/>
        </p:nvSpPr>
        <p:spPr>
          <a:xfrm>
            <a:off x="841248" y="3154680"/>
            <a:ext cx="10515600" cy="868680"/>
          </a:xfrm>
          <a:prstGeom prst="rect">
            <a:avLst/>
          </a:prstGeom>
          <a:noFill/>
          <a:ln/>
        </p:spPr>
        <p:txBody>
          <a:bodyPr wrap="square" rtlCol="0" anchor="ctr"/>
          <a:lstStyle/>
          <a:p>
            <a:pPr indent="0" marL="0">
              <a:buNone/>
            </a:pPr>
            <a:r>
              <a:rPr lang="en-US" sz="1700" b="1" dirty="0">
                <a:solidFill>
                  <a:srgbClr val="1A1813"/>
                </a:solidFill>
                <a:latin typeface="Noto Sans KR" pitchFamily="34" charset="0"/>
                <a:ea typeface="Noto Sans KR" pitchFamily="34" charset="-122"/>
                <a:cs typeface="Noto Sans KR" pitchFamily="34" charset="-120"/>
              </a:rPr>
              <a:t>둘.  순서를 기다릴 필요가 없어지며 더 큰 모델로 가는 길이 열렸다.</a:t>
            </a:r>
            <a:endParaRPr lang="en-US" sz="1700" dirty="0"/>
          </a:p>
        </p:txBody>
      </p:sp>
      <p:sp>
        <p:nvSpPr>
          <p:cNvPr id="9" name="Shape 7"/>
          <p:cNvSpPr/>
          <p:nvPr/>
        </p:nvSpPr>
        <p:spPr>
          <a:xfrm>
            <a:off x="566928" y="4206240"/>
            <a:ext cx="11064240" cy="868680"/>
          </a:xfrm>
          <a:prstGeom prst="roundRect">
            <a:avLst>
              <a:gd name="adj" fmla="val 8421"/>
            </a:avLst>
          </a:prstGeom>
          <a:solidFill>
            <a:srgbClr val="FBE7E8"/>
          </a:solidFill>
          <a:ln w="12700">
            <a:solidFill>
              <a:srgbClr val="CE1225"/>
            </a:solidFill>
            <a:prstDash val="solid"/>
          </a:ln>
        </p:spPr>
      </p:sp>
      <p:sp>
        <p:nvSpPr>
          <p:cNvPr id="10" name="Text 8"/>
          <p:cNvSpPr/>
          <p:nvPr/>
        </p:nvSpPr>
        <p:spPr>
          <a:xfrm>
            <a:off x="841248" y="4206240"/>
            <a:ext cx="10515600" cy="868680"/>
          </a:xfrm>
          <a:prstGeom prst="rect">
            <a:avLst/>
          </a:prstGeom>
          <a:noFill/>
          <a:ln/>
        </p:spPr>
        <p:txBody>
          <a:bodyPr wrap="square" rtlCol="0" anchor="ctr"/>
          <a:lstStyle/>
          <a:p>
            <a:pPr indent="0" marL="0">
              <a:buNone/>
            </a:pPr>
            <a:r>
              <a:rPr lang="en-US" sz="1700" b="1" dirty="0">
                <a:solidFill>
                  <a:srgbClr val="1A1813"/>
                </a:solidFill>
                <a:latin typeface="Noto Sans KR" pitchFamily="34" charset="0"/>
                <a:ea typeface="Noto Sans KR" pitchFamily="34" charset="-122"/>
                <a:cs typeface="Noto Sans KR" pitchFamily="34" charset="-120"/>
              </a:rPr>
              <a:t>셋.  어텐션은 질문 카드로 묻고, 색인표로 대조해, 책 내용을 섞는 절차다.</a:t>
            </a:r>
            <a:endParaRPr lang="en-US" sz="1700" dirty="0"/>
          </a:p>
        </p:txBody>
      </p:sp>
      <p:sp>
        <p:nvSpPr>
          <p:cNvPr id="11" name="Text 9"/>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전세환</a:t>
            </a:r>
            <a:endParaRPr lang="en-US" sz="950" dirty="0"/>
          </a:p>
        </p:txBody>
      </p:sp>
      <p:sp>
        <p:nvSpPr>
          <p:cNvPr id="12" name="Text 10"/>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전세환 · 구조</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여러 관점으로 동시에 — 멀티헤드 어텐션</a:t>
            </a:r>
            <a:endParaRPr lang="en-US" sz="2800" dirty="0"/>
          </a:p>
        </p:txBody>
      </p:sp>
      <p:sp>
        <p:nvSpPr>
          <p:cNvPr id="5" name="Text 3"/>
          <p:cNvSpPr/>
          <p:nvPr/>
        </p:nvSpPr>
        <p:spPr>
          <a:xfrm>
            <a:off x="566928" y="1965960"/>
            <a:ext cx="11064240" cy="137160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같은 문장도 볼 각도가 여럿 — 주어·동사 짝, 예외 문구, 문체 단서…</a:t>
            </a:r>
            <a:endParaRPr lang="en-US" sz="1700" dirty="0"/>
          </a:p>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어텐션을 여러 벌 병렬로 둠 = 멀티헤드, 한 벌 = 헤드(head)</a:t>
            </a:r>
            <a:endParaRPr lang="en-US" sz="1700" dirty="0"/>
          </a:p>
        </p:txBody>
      </p:sp>
      <p:sp>
        <p:nvSpPr>
          <p:cNvPr id="6" name="Shape 4"/>
          <p:cNvSpPr/>
          <p:nvPr/>
        </p:nvSpPr>
        <p:spPr>
          <a:xfrm>
            <a:off x="566928" y="3749040"/>
            <a:ext cx="2468880" cy="822960"/>
          </a:xfrm>
          <a:prstGeom prst="roundRect">
            <a:avLst>
              <a:gd name="adj" fmla="val 6667"/>
            </a:avLst>
          </a:prstGeom>
          <a:solidFill>
            <a:srgbClr val="FFFFFF"/>
          </a:solidFill>
          <a:ln w="12700">
            <a:solidFill>
              <a:srgbClr val="E8E3D9"/>
            </a:solidFill>
            <a:prstDash val="solid"/>
          </a:ln>
        </p:spPr>
      </p:sp>
      <p:sp>
        <p:nvSpPr>
          <p:cNvPr id="7" name="Text 5"/>
          <p:cNvSpPr/>
          <p:nvPr/>
        </p:nvSpPr>
        <p:spPr>
          <a:xfrm>
            <a:off x="566928" y="3749040"/>
            <a:ext cx="2468880" cy="822960"/>
          </a:xfrm>
          <a:prstGeom prst="rect">
            <a:avLst/>
          </a:prstGeom>
          <a:noFill/>
          <a:ln/>
        </p:spPr>
        <p:txBody>
          <a:bodyPr wrap="square" rtlCol="0" anchor="ctr"/>
          <a:lstStyle/>
          <a:p>
            <a:pPr algn="ctr" indent="0" marL="0">
              <a:buNone/>
            </a:pPr>
            <a:r>
              <a:rPr lang="en-US" sz="1300" b="1" dirty="0">
                <a:solidFill>
                  <a:srgbClr val="1A1813"/>
                </a:solidFill>
                <a:latin typeface="Noto Sans KR" pitchFamily="34" charset="0"/>
                <a:ea typeface="Noto Sans KR" pitchFamily="34" charset="-122"/>
                <a:cs typeface="Noto Sans KR" pitchFamily="34" charset="-120"/>
              </a:rPr>
              <a:t>입력 토큰</a:t>
            </a:r>
            <a:endParaRPr lang="en-US" sz="1300" dirty="0"/>
          </a:p>
        </p:txBody>
      </p:sp>
      <p:sp>
        <p:nvSpPr>
          <p:cNvPr id="8" name="Text 6"/>
          <p:cNvSpPr/>
          <p:nvPr/>
        </p:nvSpPr>
        <p:spPr>
          <a:xfrm>
            <a:off x="3035808" y="3749040"/>
            <a:ext cx="320040" cy="822960"/>
          </a:xfrm>
          <a:prstGeom prst="rect">
            <a:avLst/>
          </a:prstGeom>
          <a:noFill/>
          <a:ln/>
        </p:spPr>
        <p:txBody>
          <a:bodyPr wrap="square" rtlCol="0" anchor="ctr"/>
          <a:lstStyle/>
          <a:p>
            <a:pPr algn="ctr" indent="0" marL="0">
              <a:buNone/>
            </a:pPr>
            <a:r>
              <a:rPr lang="en-US" sz="1800" dirty="0">
                <a:solidFill>
                  <a:srgbClr val="8B8578"/>
                </a:solidFill>
                <a:latin typeface="Noto Sans KR" pitchFamily="34" charset="0"/>
                <a:ea typeface="Noto Sans KR" pitchFamily="34" charset="-122"/>
                <a:cs typeface="Noto Sans KR" pitchFamily="34" charset="-120"/>
              </a:rPr>
              <a:t>→</a:t>
            </a:r>
            <a:endParaRPr lang="en-US" sz="1800" dirty="0"/>
          </a:p>
        </p:txBody>
      </p:sp>
      <p:sp>
        <p:nvSpPr>
          <p:cNvPr id="9" name="Shape 7"/>
          <p:cNvSpPr/>
          <p:nvPr/>
        </p:nvSpPr>
        <p:spPr>
          <a:xfrm>
            <a:off x="3355848" y="3749040"/>
            <a:ext cx="2468880" cy="822960"/>
          </a:xfrm>
          <a:prstGeom prst="roundRect">
            <a:avLst>
              <a:gd name="adj" fmla="val 6667"/>
            </a:avLst>
          </a:prstGeom>
          <a:solidFill>
            <a:srgbClr val="FBE7E8"/>
          </a:solidFill>
          <a:ln w="12700">
            <a:solidFill>
              <a:srgbClr val="CE1225"/>
            </a:solidFill>
            <a:prstDash val="solid"/>
          </a:ln>
        </p:spPr>
      </p:sp>
      <p:sp>
        <p:nvSpPr>
          <p:cNvPr id="10" name="Text 8"/>
          <p:cNvSpPr/>
          <p:nvPr/>
        </p:nvSpPr>
        <p:spPr>
          <a:xfrm>
            <a:off x="3355848" y="3749040"/>
            <a:ext cx="2468880" cy="822960"/>
          </a:xfrm>
          <a:prstGeom prst="rect">
            <a:avLst/>
          </a:prstGeom>
          <a:noFill/>
          <a:ln/>
        </p:spPr>
        <p:txBody>
          <a:bodyPr wrap="square" rtlCol="0" anchor="ctr"/>
          <a:lstStyle/>
          <a:p>
            <a:pPr algn="ctr" indent="0" marL="0">
              <a:buNone/>
            </a:pPr>
            <a:r>
              <a:rPr lang="en-US" sz="1300" b="1" dirty="0">
                <a:solidFill>
                  <a:srgbClr val="9E0E1C"/>
                </a:solidFill>
                <a:latin typeface="Noto Sans KR" pitchFamily="34" charset="0"/>
                <a:ea typeface="Noto Sans KR" pitchFamily="34" charset="-122"/>
                <a:cs typeface="Noto Sans KR" pitchFamily="34" charset="-120"/>
              </a:rPr>
              <a:t>Head 1·2·3·4</a:t>
            </a:r>
            <a:endParaRPr lang="en-US" sz="1300" dirty="0"/>
          </a:p>
        </p:txBody>
      </p:sp>
      <p:sp>
        <p:nvSpPr>
          <p:cNvPr id="11" name="Text 9"/>
          <p:cNvSpPr/>
          <p:nvPr/>
        </p:nvSpPr>
        <p:spPr>
          <a:xfrm>
            <a:off x="5824728" y="3749040"/>
            <a:ext cx="320040" cy="822960"/>
          </a:xfrm>
          <a:prstGeom prst="rect">
            <a:avLst/>
          </a:prstGeom>
          <a:noFill/>
          <a:ln/>
        </p:spPr>
        <p:txBody>
          <a:bodyPr wrap="square" rtlCol="0" anchor="ctr"/>
          <a:lstStyle/>
          <a:p>
            <a:pPr algn="ctr" indent="0" marL="0">
              <a:buNone/>
            </a:pPr>
            <a:r>
              <a:rPr lang="en-US" sz="1800" dirty="0">
                <a:solidFill>
                  <a:srgbClr val="8B8578"/>
                </a:solidFill>
                <a:latin typeface="Noto Sans KR" pitchFamily="34" charset="0"/>
                <a:ea typeface="Noto Sans KR" pitchFamily="34" charset="-122"/>
                <a:cs typeface="Noto Sans KR" pitchFamily="34" charset="-120"/>
              </a:rPr>
              <a:t>→</a:t>
            </a:r>
            <a:endParaRPr lang="en-US" sz="1800" dirty="0"/>
          </a:p>
        </p:txBody>
      </p:sp>
      <p:sp>
        <p:nvSpPr>
          <p:cNvPr id="12" name="Shape 10"/>
          <p:cNvSpPr/>
          <p:nvPr/>
        </p:nvSpPr>
        <p:spPr>
          <a:xfrm>
            <a:off x="6144768" y="3749040"/>
            <a:ext cx="2468880" cy="822960"/>
          </a:xfrm>
          <a:prstGeom prst="roundRect">
            <a:avLst>
              <a:gd name="adj" fmla="val 6667"/>
            </a:avLst>
          </a:prstGeom>
          <a:solidFill>
            <a:srgbClr val="FFFFFF"/>
          </a:solidFill>
          <a:ln w="12700">
            <a:solidFill>
              <a:srgbClr val="E8E3D9"/>
            </a:solidFill>
            <a:prstDash val="solid"/>
          </a:ln>
        </p:spPr>
      </p:sp>
      <p:sp>
        <p:nvSpPr>
          <p:cNvPr id="13" name="Text 11"/>
          <p:cNvSpPr/>
          <p:nvPr/>
        </p:nvSpPr>
        <p:spPr>
          <a:xfrm>
            <a:off x="6144768" y="3749040"/>
            <a:ext cx="2468880" cy="822960"/>
          </a:xfrm>
          <a:prstGeom prst="rect">
            <a:avLst/>
          </a:prstGeom>
          <a:noFill/>
          <a:ln/>
        </p:spPr>
        <p:txBody>
          <a:bodyPr wrap="square" rtlCol="0" anchor="ctr"/>
          <a:lstStyle/>
          <a:p>
            <a:pPr algn="ctr" indent="0" marL="0">
              <a:buNone/>
            </a:pPr>
            <a:r>
              <a:rPr lang="en-US" sz="1300" b="1" dirty="0">
                <a:solidFill>
                  <a:srgbClr val="1A1813"/>
                </a:solidFill>
                <a:latin typeface="Noto Sans KR" pitchFamily="34" charset="0"/>
                <a:ea typeface="Noto Sans KR" pitchFamily="34" charset="-122"/>
                <a:cs typeface="Noto Sans KR" pitchFamily="34" charset="-120"/>
              </a:rPr>
              <a:t>결합+선형변환</a:t>
            </a:r>
            <a:endParaRPr lang="en-US" sz="1300" dirty="0"/>
          </a:p>
        </p:txBody>
      </p:sp>
      <p:sp>
        <p:nvSpPr>
          <p:cNvPr id="14" name="Text 12"/>
          <p:cNvSpPr/>
          <p:nvPr/>
        </p:nvSpPr>
        <p:spPr>
          <a:xfrm>
            <a:off x="8613648" y="3749040"/>
            <a:ext cx="320040" cy="822960"/>
          </a:xfrm>
          <a:prstGeom prst="rect">
            <a:avLst/>
          </a:prstGeom>
          <a:noFill/>
          <a:ln/>
        </p:spPr>
        <p:txBody>
          <a:bodyPr wrap="square" rtlCol="0" anchor="ctr"/>
          <a:lstStyle/>
          <a:p>
            <a:pPr algn="ctr" indent="0" marL="0">
              <a:buNone/>
            </a:pPr>
            <a:r>
              <a:rPr lang="en-US" sz="1800" dirty="0">
                <a:solidFill>
                  <a:srgbClr val="8B8578"/>
                </a:solidFill>
                <a:latin typeface="Noto Sans KR" pitchFamily="34" charset="0"/>
                <a:ea typeface="Noto Sans KR" pitchFamily="34" charset="-122"/>
                <a:cs typeface="Noto Sans KR" pitchFamily="34" charset="-120"/>
              </a:rPr>
              <a:t>→</a:t>
            </a:r>
            <a:endParaRPr lang="en-US" sz="1800" dirty="0"/>
          </a:p>
        </p:txBody>
      </p:sp>
      <p:sp>
        <p:nvSpPr>
          <p:cNvPr id="15" name="Shape 13"/>
          <p:cNvSpPr/>
          <p:nvPr/>
        </p:nvSpPr>
        <p:spPr>
          <a:xfrm>
            <a:off x="8933688" y="3749040"/>
            <a:ext cx="2468880" cy="822960"/>
          </a:xfrm>
          <a:prstGeom prst="roundRect">
            <a:avLst>
              <a:gd name="adj" fmla="val 6667"/>
            </a:avLst>
          </a:prstGeom>
          <a:solidFill>
            <a:srgbClr val="FFFFFF"/>
          </a:solidFill>
          <a:ln w="12700">
            <a:solidFill>
              <a:srgbClr val="E8E3D9"/>
            </a:solidFill>
            <a:prstDash val="solid"/>
          </a:ln>
        </p:spPr>
      </p:sp>
      <p:sp>
        <p:nvSpPr>
          <p:cNvPr id="16" name="Text 14"/>
          <p:cNvSpPr/>
          <p:nvPr/>
        </p:nvSpPr>
        <p:spPr>
          <a:xfrm>
            <a:off x="8933688" y="3749040"/>
            <a:ext cx="2468880" cy="822960"/>
          </a:xfrm>
          <a:prstGeom prst="rect">
            <a:avLst/>
          </a:prstGeom>
          <a:noFill/>
          <a:ln/>
        </p:spPr>
        <p:txBody>
          <a:bodyPr wrap="square" rtlCol="0" anchor="ctr"/>
          <a:lstStyle/>
          <a:p>
            <a:pPr algn="ctr" indent="0" marL="0">
              <a:buNone/>
            </a:pPr>
            <a:r>
              <a:rPr lang="en-US" sz="1300" b="1" dirty="0">
                <a:solidFill>
                  <a:srgbClr val="1A1813"/>
                </a:solidFill>
                <a:latin typeface="Noto Sans KR" pitchFamily="34" charset="0"/>
                <a:ea typeface="Noto Sans KR" pitchFamily="34" charset="-122"/>
                <a:cs typeface="Noto Sans KR" pitchFamily="34" charset="-120"/>
              </a:rPr>
              <a:t>새 표현</a:t>
            </a:r>
            <a:endParaRPr lang="en-US" sz="1300" dirty="0"/>
          </a:p>
        </p:txBody>
      </p:sp>
      <p:sp>
        <p:nvSpPr>
          <p:cNvPr id="17" name="Text 15"/>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전세환</a:t>
            </a:r>
            <a:endParaRPr lang="en-US" sz="950" dirty="0"/>
          </a:p>
        </p:txBody>
      </p:sp>
      <p:sp>
        <p:nvSpPr>
          <p:cNvPr id="18" name="Text 16"/>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전세환 · 수식</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Q·K·V 계산과 왜 √dₖ 인가</a:t>
            </a:r>
            <a:endParaRPr lang="en-US" sz="2800" dirty="0"/>
          </a:p>
        </p:txBody>
      </p:sp>
      <p:sp>
        <p:nvSpPr>
          <p:cNvPr id="5" name="Shape 3"/>
          <p:cNvSpPr/>
          <p:nvPr/>
        </p:nvSpPr>
        <p:spPr>
          <a:xfrm>
            <a:off x="566928" y="1920240"/>
            <a:ext cx="11064240" cy="640080"/>
          </a:xfrm>
          <a:prstGeom prst="roundRect">
            <a:avLst>
              <a:gd name="adj" fmla="val 10000"/>
            </a:avLst>
          </a:prstGeom>
          <a:solidFill>
            <a:srgbClr val="FFFFFF"/>
          </a:solidFill>
          <a:ln w="12700">
            <a:solidFill>
              <a:srgbClr val="E8E3D9"/>
            </a:solidFill>
            <a:prstDash val="solid"/>
          </a:ln>
          <a:effectLst>
            <a:outerShdw sx="100000" sy="100000" kx="0" ky="0" algn="bl" rotWithShape="0" blurRad="76200" dist="25400" dir="5400000">
              <a:srgbClr val="6E6A62">
                <a:alpha val="16000"/>
              </a:srgbClr>
            </a:outerShdw>
          </a:effectLst>
        </p:spPr>
      </p:sp>
      <p:sp>
        <p:nvSpPr>
          <p:cNvPr id="6" name="Text 4"/>
          <p:cNvSpPr/>
          <p:nvPr/>
        </p:nvSpPr>
        <p:spPr>
          <a:xfrm>
            <a:off x="786384" y="1938528"/>
            <a:ext cx="10607040" cy="603504"/>
          </a:xfrm>
          <a:prstGeom prst="rect">
            <a:avLst/>
          </a:prstGeom>
          <a:noFill/>
          <a:ln/>
        </p:spPr>
        <p:txBody>
          <a:bodyPr wrap="square" rtlCol="0" anchor="ctr"/>
          <a:lstStyle/>
          <a:p>
            <a:pPr indent="0" marL="0">
              <a:buNone/>
            </a:pPr>
            <a:r>
              <a:rPr lang="en-US" sz="1500" dirty="0">
                <a:solidFill>
                  <a:srgbClr val="1A1813"/>
                </a:solidFill>
                <a:latin typeface="Noto Sans KR" pitchFamily="34" charset="0"/>
                <a:ea typeface="Noto Sans KR" pitchFamily="34" charset="-122"/>
                <a:cs typeface="Noto Sans KR" pitchFamily="34" charset="-120"/>
              </a:rPr>
              <a:t>Q=X·W_Q   K=X·W_K   V=X·W_V   (같은 재료 X에서 세 개의 다른 렌즈)</a:t>
            </a:r>
            <a:endParaRPr lang="en-US" sz="1500" dirty="0"/>
          </a:p>
        </p:txBody>
      </p:sp>
      <p:sp>
        <p:nvSpPr>
          <p:cNvPr id="7" name="Text 5"/>
          <p:cNvSpPr/>
          <p:nvPr/>
        </p:nvSpPr>
        <p:spPr>
          <a:xfrm>
            <a:off x="566928" y="2697480"/>
            <a:ext cx="11064240" cy="292608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① QKᵀ — 모든 Q와 모든 K를 맞대 점수표를 한 번의 행렬곱으로</a:t>
            </a:r>
            <a:endParaRPr lang="en-US" sz="1700" dirty="0"/>
          </a:p>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② ÷√dₖ — 벡터가 길수록 점수가 과하게 벌어지는 것을 눌러주는 스케일링</a:t>
            </a:r>
            <a:endParaRPr lang="en-US" sz="1700" dirty="0"/>
          </a:p>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왜 제곱근? dₖ가 커지면 점수 분산이 dₖ배 → softmax가 뾰족해져 학습 신호가 끊긴다. √dₖ로 눌러 분포를 일정하게.</a:t>
            </a:r>
            <a:endParaRPr lang="en-US" sz="1700" dirty="0"/>
          </a:p>
        </p:txBody>
      </p:sp>
      <p:sp>
        <p:nvSpPr>
          <p:cNvPr id="8" name="Text 6"/>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전세환</a:t>
            </a:r>
            <a:endParaRPr lang="en-US" sz="950" dirty="0"/>
          </a:p>
        </p:txBody>
      </p:sp>
      <p:sp>
        <p:nvSpPr>
          <p:cNvPr id="9" name="Text 7"/>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전세환 · 디코더</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Causal Mask — 미래를 가리다</a:t>
            </a:r>
            <a:endParaRPr lang="en-US" sz="2800" dirty="0"/>
          </a:p>
        </p:txBody>
      </p:sp>
      <p:sp>
        <p:nvSpPr>
          <p:cNvPr id="5" name="Text 3"/>
          <p:cNvSpPr/>
          <p:nvPr/>
        </p:nvSpPr>
        <p:spPr>
          <a:xfrm>
            <a:off x="566928" y="1874520"/>
            <a:ext cx="11064240" cy="1874520"/>
          </a:xfrm>
          <a:prstGeom prst="rect">
            <a:avLst/>
          </a:prstGeom>
          <a:noFill/>
          <a:ln/>
        </p:spPr>
        <p:txBody>
          <a:bodyPr wrap="square" rtlCol="0" anchor="t"/>
          <a:lstStyle/>
          <a:p>
            <a:pPr marL="203200" indent="-203200">
              <a:lnSpc>
                <a:spcPts val="2500"/>
              </a:lnSpc>
              <a:spcAft>
                <a:spcPts val="1000"/>
              </a:spcAft>
              <a:buSzPct val="100000"/>
              <a:buChar char="•"/>
            </a:pPr>
            <a:r>
              <a:rPr lang="en-US" sz="1500" dirty="0">
                <a:solidFill>
                  <a:srgbClr val="575249"/>
                </a:solidFill>
                <a:latin typeface="Noto Sans KR" pitchFamily="34" charset="0"/>
                <a:ea typeface="Noto Sans KR" pitchFamily="34" charset="-122"/>
                <a:cs typeface="Noto Sans KR" pitchFamily="34" charset="-120"/>
              </a:rPr>
              <a:t>Q·K 계산은 원래 앞뒤를 안 가림 — 그대로 두면 미래 위치까지 다 참고함</a:t>
            </a:r>
            <a:endParaRPr lang="en-US" sz="1500" dirty="0"/>
          </a:p>
          <a:p>
            <a:pPr marL="203200" indent="-203200">
              <a:lnSpc>
                <a:spcPts val="2500"/>
              </a:lnSpc>
              <a:spcAft>
                <a:spcPts val="1000"/>
              </a:spcAft>
              <a:buSzPct val="100000"/>
              <a:buChar char="•"/>
            </a:pPr>
            <a:r>
              <a:rPr lang="en-US" sz="1500" dirty="0">
                <a:solidFill>
                  <a:srgbClr val="575249"/>
                </a:solidFill>
                <a:latin typeface="Noto Sans KR" pitchFamily="34" charset="0"/>
                <a:ea typeface="Noto Sans KR" pitchFamily="34" charset="-122"/>
                <a:cs typeface="Noto Sans KR" pitchFamily="34" charset="-120"/>
              </a:rPr>
              <a:t>디코더는 아직 안 만든 미래 위치의 점수를 −∞로 눌러 softmax에서 0 → 정답의 미래를 훔쳐보지 못함</a:t>
            </a:r>
            <a:endParaRPr lang="en-US" sz="1500" dirty="0"/>
          </a:p>
          <a:p>
            <a:pPr marL="203200" indent="-203200">
              <a:lnSpc>
                <a:spcPts val="2500"/>
              </a:lnSpc>
              <a:spcAft>
                <a:spcPts val="1000"/>
              </a:spcAft>
              <a:buSzPct val="100000"/>
              <a:buChar char="•"/>
            </a:pPr>
            <a:r>
              <a:rPr lang="en-US" sz="1500" dirty="0">
                <a:solidFill>
                  <a:srgbClr val="575249"/>
                </a:solidFill>
                <a:latin typeface="Noto Sans KR" pitchFamily="34" charset="0"/>
                <a:ea typeface="Noto Sans KR" pitchFamily="34" charset="-122"/>
                <a:cs typeface="Noto Sans KR" pitchFamily="34" charset="-120"/>
              </a:rPr>
              <a:t>예 — ‘나는 밥을 ___’의 다음을 맞힐 때 뒤에 올 ‘먹었다’를 미리 보면 시험 부정행위 → 그 자리를 가려 현재까지만 보고 예측</a:t>
            </a:r>
            <a:endParaRPr lang="en-US" sz="1500" dirty="0"/>
          </a:p>
        </p:txBody>
      </p:sp>
      <p:sp>
        <p:nvSpPr>
          <p:cNvPr id="6" name="Shape 4"/>
          <p:cNvSpPr/>
          <p:nvPr/>
        </p:nvSpPr>
        <p:spPr>
          <a:xfrm>
            <a:off x="566928" y="3977640"/>
            <a:ext cx="11064240" cy="1325880"/>
          </a:xfrm>
          <a:prstGeom prst="roundRect">
            <a:avLst>
              <a:gd name="adj" fmla="val 5517"/>
            </a:avLst>
          </a:prstGeom>
          <a:solidFill>
            <a:srgbClr val="FBE7E8"/>
          </a:solidFill>
          <a:ln w="12700">
            <a:solidFill>
              <a:srgbClr val="CE1225"/>
            </a:solidFill>
            <a:prstDash val="solid"/>
          </a:ln>
          <a:effectLst>
            <a:outerShdw sx="100000" sy="100000" kx="0" ky="0" algn="bl" rotWithShape="0" blurRad="76200" dist="25400" dir="5400000">
              <a:srgbClr val="6E6A62">
                <a:alpha val="16000"/>
              </a:srgbClr>
            </a:outerShdw>
          </a:effectLst>
        </p:spPr>
      </p:sp>
      <p:sp>
        <p:nvSpPr>
          <p:cNvPr id="7" name="Text 5"/>
          <p:cNvSpPr/>
          <p:nvPr/>
        </p:nvSpPr>
        <p:spPr>
          <a:xfrm>
            <a:off x="795528" y="4114800"/>
            <a:ext cx="10058400" cy="274320"/>
          </a:xfrm>
          <a:prstGeom prst="rect">
            <a:avLst/>
          </a:prstGeom>
          <a:noFill/>
          <a:ln/>
        </p:spPr>
        <p:txBody>
          <a:bodyPr wrap="square" rtlCol="0" anchor="ctr"/>
          <a:lstStyle/>
          <a:p>
            <a:pPr indent="0" marL="0">
              <a:buNone/>
            </a:pPr>
            <a:r>
              <a:rPr lang="en-US" sz="1100" b="1" spc="100" kern="0" dirty="0">
                <a:solidFill>
                  <a:srgbClr val="8B8578"/>
                </a:solidFill>
                <a:latin typeface="Noto Sans KR" pitchFamily="34" charset="0"/>
                <a:ea typeface="Noto Sans KR" pitchFamily="34" charset="-122"/>
                <a:cs typeface="Noto Sans KR" pitchFamily="34" charset="-120"/>
              </a:rPr>
              <a:t>핵심 구분</a:t>
            </a:r>
            <a:endParaRPr lang="en-US" sz="1100" dirty="0"/>
          </a:p>
        </p:txBody>
      </p:sp>
      <p:sp>
        <p:nvSpPr>
          <p:cNvPr id="8" name="Text 6"/>
          <p:cNvSpPr/>
          <p:nvPr/>
        </p:nvSpPr>
        <p:spPr>
          <a:xfrm>
            <a:off x="795528" y="4416552"/>
            <a:ext cx="10607040" cy="777240"/>
          </a:xfrm>
          <a:prstGeom prst="rect">
            <a:avLst/>
          </a:prstGeom>
          <a:noFill/>
          <a:ln/>
        </p:spPr>
        <p:txBody>
          <a:bodyPr wrap="square" rtlCol="0" anchor="t"/>
          <a:lstStyle/>
          <a:p>
            <a:pPr indent="0" marL="0">
              <a:lnSpc>
                <a:spcPts val="2000"/>
              </a:lnSpc>
              <a:buNone/>
            </a:pPr>
            <a:r>
              <a:rPr lang="en-US" sz="1500" dirty="0">
                <a:solidFill>
                  <a:srgbClr val="1A1813"/>
                </a:solidFill>
                <a:latin typeface="Noto Sans KR" pitchFamily="34" charset="0"/>
                <a:ea typeface="Noto Sans KR" pitchFamily="34" charset="-122"/>
                <a:cs typeface="Noto Sans KR" pitchFamily="34" charset="-120"/>
              </a:rPr>
              <a:t>어텐션의 출력은 문맥이 반영된 표현의 갱신이지 다음 토큰의 확률이 아니다. 확률은 이 표현을 받아 맨 끝 출력층이 계산한다.</a:t>
            </a:r>
            <a:endParaRPr lang="en-US" sz="1500" dirty="0"/>
          </a:p>
        </p:txBody>
      </p:sp>
      <p:sp>
        <p:nvSpPr>
          <p:cNvPr id="9" name="Text 7"/>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전세환</a:t>
            </a:r>
            <a:endParaRPr lang="en-US" sz="950" dirty="0"/>
          </a:p>
        </p:txBody>
      </p:sp>
      <p:sp>
        <p:nvSpPr>
          <p:cNvPr id="10" name="Text 8"/>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813"/>
        </a:solidFill>
      </p:bgPr>
    </p:bg>
    <p:spTree>
      <p:nvGrpSpPr>
        <p:cNvPr id="1" name=""/>
        <p:cNvGrpSpPr/>
        <p:nvPr/>
      </p:nvGrpSpPr>
      <p:grpSpPr>
        <a:xfrm>
          <a:off x="0" y="0"/>
          <a:ext cx="0" cy="0"/>
          <a:chOff x="0" y="0"/>
          <a:chExt cx="0" cy="0"/>
        </a:xfrm>
      </p:grpSpPr>
      <p:sp>
        <p:nvSpPr>
          <p:cNvPr id="2" name="Text 0"/>
          <p:cNvSpPr/>
          <p:nvPr/>
        </p:nvSpPr>
        <p:spPr>
          <a:xfrm>
            <a:off x="7772400" y="182880"/>
            <a:ext cx="4114800" cy="5943600"/>
          </a:xfrm>
          <a:prstGeom prst="rect">
            <a:avLst/>
          </a:prstGeom>
          <a:noFill/>
          <a:ln/>
        </p:spPr>
        <p:txBody>
          <a:bodyPr wrap="square" rtlCol="0" anchor="t"/>
          <a:lstStyle/>
          <a:p>
            <a:pPr algn="r" indent="0" marL="0">
              <a:buNone/>
            </a:pPr>
            <a:r>
              <a:rPr lang="en-US" sz="30000" b="1" dirty="0">
                <a:solidFill>
                  <a:srgbClr val="221E1A"/>
                </a:solidFill>
                <a:latin typeface="Noto Sans KR" pitchFamily="34" charset="0"/>
                <a:ea typeface="Noto Sans KR" pitchFamily="34" charset="-122"/>
                <a:cs typeface="Noto Sans KR" pitchFamily="34" charset="-120"/>
              </a:rPr>
              <a:t>3</a:t>
            </a:r>
            <a:endParaRPr lang="en-US" sz="30000" dirty="0"/>
          </a:p>
        </p:txBody>
      </p:sp>
      <p:sp>
        <p:nvSpPr>
          <p:cNvPr id="3" name="Shape 1"/>
          <p:cNvSpPr/>
          <p:nvPr/>
        </p:nvSpPr>
        <p:spPr>
          <a:xfrm>
            <a:off x="566928" y="548640"/>
            <a:ext cx="118872" cy="118872"/>
          </a:xfrm>
          <a:prstGeom prst="rect">
            <a:avLst/>
          </a:prstGeom>
          <a:solidFill>
            <a:srgbClr val="FF6B74"/>
          </a:solidFill>
          <a:ln/>
        </p:spPr>
      </p:sp>
      <p:sp>
        <p:nvSpPr>
          <p:cNvPr id="4" name="Text 2"/>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FF6B74"/>
                </a:solidFill>
                <a:latin typeface="Noto Sans KR" pitchFamily="34" charset="0"/>
                <a:ea typeface="Noto Sans KR" pitchFamily="34" charset="-122"/>
                <a:cs typeface="Noto Sans KR" pitchFamily="34" charset="-120"/>
              </a:rPr>
              <a:t>PART 3</a:t>
            </a:r>
            <a:endParaRPr lang="en-US" sz="1150" dirty="0"/>
          </a:p>
        </p:txBody>
      </p:sp>
      <p:sp>
        <p:nvSpPr>
          <p:cNvPr id="5" name="Text 3"/>
          <p:cNvSpPr/>
          <p:nvPr/>
        </p:nvSpPr>
        <p:spPr>
          <a:xfrm>
            <a:off x="566928" y="2331720"/>
            <a:ext cx="7406640" cy="1600200"/>
          </a:xfrm>
          <a:prstGeom prst="rect">
            <a:avLst/>
          </a:prstGeom>
          <a:noFill/>
          <a:ln/>
        </p:spPr>
        <p:txBody>
          <a:bodyPr wrap="square" rtlCol="0" anchor="t"/>
          <a:lstStyle/>
          <a:p>
            <a:pPr indent="0" marL="0">
              <a:lnSpc>
                <a:spcPts val="4000"/>
              </a:lnSpc>
              <a:buNone/>
            </a:pPr>
            <a:r>
              <a:rPr lang="en-US" sz="3200" b="1" dirty="0">
                <a:solidFill>
                  <a:srgbClr val="FFFFFF"/>
                </a:solidFill>
                <a:latin typeface="Noto Sans KR" pitchFamily="34" charset="0"/>
                <a:ea typeface="Noto Sans KR" pitchFamily="34" charset="-122"/>
                <a:cs typeface="Noto Sans KR" pitchFamily="34" charset="-120"/>
              </a:rPr>
              <a:t>실전 최적화와 통합 — 속도 · 순서 · 비전</a:t>
            </a:r>
            <a:endParaRPr lang="en-US" sz="3200" dirty="0"/>
          </a:p>
        </p:txBody>
      </p:sp>
      <p:sp>
        <p:nvSpPr>
          <p:cNvPr id="6" name="Text 4"/>
          <p:cNvSpPr/>
          <p:nvPr/>
        </p:nvSpPr>
        <p:spPr>
          <a:xfrm>
            <a:off x="566928" y="4069080"/>
            <a:ext cx="7132320" cy="457200"/>
          </a:xfrm>
          <a:prstGeom prst="rect">
            <a:avLst/>
          </a:prstGeom>
          <a:noFill/>
          <a:ln/>
        </p:spPr>
        <p:txBody>
          <a:bodyPr wrap="square" rtlCol="0" anchor="ctr"/>
          <a:lstStyle/>
          <a:p>
            <a:pPr indent="0" marL="0">
              <a:buNone/>
            </a:pPr>
            <a:r>
              <a:rPr lang="en-US" sz="1800" b="1" dirty="0">
                <a:solidFill>
                  <a:srgbClr val="FF6B74"/>
                </a:solidFill>
                <a:latin typeface="Noto Sans KR" pitchFamily="34" charset="0"/>
                <a:ea typeface="Noto Sans KR" pitchFamily="34" charset="-122"/>
                <a:cs typeface="Noto Sans KR" pitchFamily="34" charset="-120"/>
              </a:rPr>
              <a:t>발표자 김주영</a:t>
            </a:r>
            <a:endParaRPr lang="en-US" sz="1800" dirty="0"/>
          </a:p>
        </p:txBody>
      </p:sp>
      <p:sp>
        <p:nvSpPr>
          <p:cNvPr id="7" name="Text 5"/>
          <p:cNvSpPr/>
          <p:nvPr/>
        </p:nvSpPr>
        <p:spPr>
          <a:xfrm>
            <a:off x="566928" y="4709160"/>
            <a:ext cx="7315200" cy="1188720"/>
          </a:xfrm>
          <a:prstGeom prst="rect">
            <a:avLst/>
          </a:prstGeom>
          <a:noFill/>
          <a:ln/>
        </p:spPr>
        <p:txBody>
          <a:bodyPr wrap="square" rtlCol="0" anchor="t"/>
          <a:lstStyle/>
          <a:p>
            <a:pPr indent="0" marL="0">
              <a:lnSpc>
                <a:spcPts val="2200"/>
              </a:lnSpc>
              <a:buNone/>
            </a:pPr>
            <a:r>
              <a:rPr lang="en-US" sz="1400" dirty="0">
                <a:solidFill>
                  <a:srgbClr val="C9C3B8"/>
                </a:solidFill>
                <a:latin typeface="Noto Sans KR" pitchFamily="34" charset="0"/>
                <a:ea typeface="Noto Sans KR" pitchFamily="34" charset="-122"/>
                <a:cs typeface="Noto Sans KR" pitchFamily="34" charset="-120"/>
              </a:rPr>
              <a:t>KV Cache &amp; GQA   ·   위치 인코딩 &amp; RoPE   ·   비전(Vision)의 합류</a:t>
            </a:r>
            <a:endParaRPr lang="en-US" sz="1400" dirty="0"/>
          </a:p>
        </p:txBody>
      </p:sp>
      <p:sp>
        <p:nvSpPr>
          <p:cNvPr id="8" name="Text 6"/>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6E6A62"/>
                </a:solidFill>
                <a:latin typeface="Noto Sans KR" pitchFamily="34" charset="0"/>
                <a:ea typeface="Noto Sans KR" pitchFamily="34" charset="-122"/>
                <a:cs typeface="Noto Sans KR" pitchFamily="34" charset="-120"/>
              </a:rPr>
              <a:t>티처팀 · 트랜스포머 발표</a:t>
            </a:r>
            <a:endParaRPr lang="en-US" sz="950" dirty="0"/>
          </a:p>
        </p:txBody>
      </p:sp>
      <p:sp>
        <p:nvSpPr>
          <p:cNvPr id="9" name="Text 7"/>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FF6B74"/>
                </a:solidFill>
                <a:latin typeface="Noto Sans KR" pitchFamily="34" charset="0"/>
                <a:ea typeface="Noto Sans KR" pitchFamily="34" charset="-122"/>
                <a:cs typeface="Noto Sans K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김주영 · 실전 이슈</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추론 속도의 핵심 — KV Cache</a:t>
            </a:r>
            <a:endParaRPr lang="en-US" sz="2800" dirty="0"/>
          </a:p>
        </p:txBody>
      </p:sp>
      <p:sp>
        <p:nvSpPr>
          <p:cNvPr id="5" name="Text 3"/>
          <p:cNvSpPr/>
          <p:nvPr/>
        </p:nvSpPr>
        <p:spPr>
          <a:xfrm>
            <a:off x="566928" y="1965960"/>
            <a:ext cx="11064240" cy="868680"/>
          </a:xfrm>
          <a:prstGeom prst="rect">
            <a:avLst/>
          </a:prstGeom>
          <a:noFill/>
          <a:ln/>
        </p:spPr>
        <p:txBody>
          <a:bodyPr wrap="square" rtlCol="0" anchor="t"/>
          <a:lstStyle/>
          <a:p>
            <a:pPr indent="0" marL="0">
              <a:lnSpc>
                <a:spcPts val="2600"/>
              </a:lnSpc>
              <a:buNone/>
            </a:pPr>
            <a:r>
              <a:rPr lang="en-US" sz="1800" b="1" dirty="0">
                <a:solidFill>
                  <a:srgbClr val="1A1813"/>
                </a:solidFill>
                <a:latin typeface="Noto Sans KR" pitchFamily="34" charset="0"/>
                <a:ea typeface="Noto Sans KR" pitchFamily="34" charset="-122"/>
                <a:cs typeface="Noto Sans KR" pitchFamily="34" charset="-120"/>
              </a:rPr>
              <a:t>생성형 모델은 답을 한 토큰씩 이어 쓴다 — 매번 앞 토큰의 Key·Value를 처음부터 다시 계산하면 큰 낭비.</a:t>
            </a:r>
            <a:endParaRPr lang="en-US" sz="1800" dirty="0"/>
          </a:p>
        </p:txBody>
      </p:sp>
      <p:sp>
        <p:nvSpPr>
          <p:cNvPr id="6" name="Text 4"/>
          <p:cNvSpPr/>
          <p:nvPr/>
        </p:nvSpPr>
        <p:spPr>
          <a:xfrm>
            <a:off x="566928" y="3063240"/>
            <a:ext cx="11064240" cy="146304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한 번 계산한 K·V를 메모리에 저장해 재사용 = KV Cache</a:t>
            </a:r>
            <a:endParaRPr lang="en-US" sz="1700" dirty="0"/>
          </a:p>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문장이 길수록 이 캐시가 메모리·대역폭 부담 → 헤드끼리 K·V를 얼마나 나눠 쓰냐로 설계가 갈림</a:t>
            </a:r>
            <a:endParaRPr lang="en-US" sz="1700" dirty="0"/>
          </a:p>
        </p:txBody>
      </p:sp>
      <p:sp>
        <p:nvSpPr>
          <p:cNvPr id="7" name="Text 5"/>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김주영</a:t>
            </a:r>
            <a:endParaRPr lang="en-US" sz="950" dirty="0"/>
          </a:p>
        </p:txBody>
      </p:sp>
      <p:sp>
        <p:nvSpPr>
          <p:cNvPr id="8" name="Text 6"/>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김주영 · KV CACHE</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캐시를 어떻게 나눌까 — MHA · GQA · MQA</a:t>
            </a:r>
            <a:endParaRPr lang="en-US" sz="2800" dirty="0"/>
          </a:p>
        </p:txBody>
      </p:sp>
      <p:sp>
        <p:nvSpPr>
          <p:cNvPr id="5" name="Text 3"/>
          <p:cNvSpPr/>
          <p:nvPr/>
        </p:nvSpPr>
        <p:spPr>
          <a:xfrm>
            <a:off x="566928" y="1965960"/>
            <a:ext cx="11064240" cy="868680"/>
          </a:xfrm>
          <a:prstGeom prst="rect">
            <a:avLst/>
          </a:prstGeom>
          <a:noFill/>
          <a:ln/>
        </p:spPr>
        <p:txBody>
          <a:bodyPr wrap="square" rtlCol="0" anchor="t"/>
          <a:lstStyle/>
          <a:p>
            <a:pPr indent="0" marL="0">
              <a:lnSpc>
                <a:spcPts val="2600"/>
              </a:lnSpc>
              <a:buNone/>
            </a:pPr>
            <a:r>
              <a:rPr lang="en-US" sz="1700" b="1" dirty="0">
                <a:solidFill>
                  <a:srgbClr val="1A1813"/>
                </a:solidFill>
                <a:latin typeface="Noto Sans KR" pitchFamily="34" charset="0"/>
                <a:ea typeface="Noto Sans KR" pitchFamily="34" charset="-122"/>
                <a:cs typeface="Noto Sans KR" pitchFamily="34" charset="-120"/>
              </a:rPr>
              <a:t>헤드끼리 Key·Value를 얼마나 공유하느냐로 캐시 크기와 표현력이 갈린다.</a:t>
            </a:r>
            <a:endParaRPr lang="en-US" sz="17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2880360"/>
          <a:ext cx="11064240" cy="914400"/>
        </p:xfrm>
        <a:graphic>
          <a:graphicData uri="http://schemas.openxmlformats.org/drawingml/2006/table">
            <a:tbl>
              <a:tblPr/>
              <a:tblGrid>
                <a:gridCol w="2766060"/>
                <a:gridCol w="2766060"/>
                <a:gridCol w="2766060"/>
                <a:gridCol w="2766060"/>
              </a:tblGrid>
              <a:tr h="457200">
                <a:tc>
                  <a:txBody>
                    <a:bodyPr/>
                    <a:lstStyle/>
                    <a:p>
                      <a:pPr algn="l" indent="0" marL="0">
                        <a:buNone/>
                      </a:pPr>
                      <a:r>
                        <a:rPr lang="en-US" sz="1200" b="1" dirty="0">
                          <a:solidFill>
                            <a:srgbClr val="FCFBF9"/>
                          </a:solidFill>
                          <a:latin typeface="Noto Sans KR" pitchFamily="34" charset="0"/>
                          <a:ea typeface="Noto Sans KR" pitchFamily="34" charset="-122"/>
                          <a:cs typeface="Noto Sans KR" pitchFamily="34" charset="-120"/>
                        </a:rPr>
                        <a:t>방식</a:t>
                      </a:r>
                      <a:endParaRPr lang="en-US" sz="12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1A1813"/>
                    </a:solidFill>
                  </a:tcPr>
                </a:tc>
                <a:tc>
                  <a:txBody>
                    <a:bodyPr/>
                    <a:lstStyle/>
                    <a:p>
                      <a:pPr algn="l" indent="0" marL="0">
                        <a:buNone/>
                      </a:pPr>
                      <a:r>
                        <a:rPr lang="en-US" sz="1200" b="1" dirty="0">
                          <a:solidFill>
                            <a:srgbClr val="FCFBF9"/>
                          </a:solidFill>
                          <a:latin typeface="Noto Sans KR" pitchFamily="34" charset="0"/>
                          <a:ea typeface="Noto Sans KR" pitchFamily="34" charset="-122"/>
                          <a:cs typeface="Noto Sans KR" pitchFamily="34" charset="-120"/>
                        </a:rPr>
                        <a:t>Key·Value를</a:t>
                      </a:r>
                      <a:endParaRPr lang="en-US" sz="12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1A1813"/>
                    </a:solidFill>
                  </a:tcPr>
                </a:tc>
                <a:tc>
                  <a:txBody>
                    <a:bodyPr/>
                    <a:lstStyle/>
                    <a:p>
                      <a:pPr algn="l" indent="0" marL="0">
                        <a:buNone/>
                      </a:pPr>
                      <a:r>
                        <a:rPr lang="en-US" sz="1200" b="1" dirty="0">
                          <a:solidFill>
                            <a:srgbClr val="FCFBF9"/>
                          </a:solidFill>
                          <a:latin typeface="Noto Sans KR" pitchFamily="34" charset="0"/>
                          <a:ea typeface="Noto Sans KR" pitchFamily="34" charset="-122"/>
                          <a:cs typeface="Noto Sans KR" pitchFamily="34" charset="-120"/>
                        </a:rPr>
                        <a:t>캐시</a:t>
                      </a:r>
                      <a:endParaRPr lang="en-US" sz="12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1A1813"/>
                    </a:solidFill>
                  </a:tcPr>
                </a:tc>
                <a:tc>
                  <a:txBody>
                    <a:bodyPr/>
                    <a:lstStyle/>
                    <a:p>
                      <a:pPr algn="l" indent="0" marL="0">
                        <a:buNone/>
                      </a:pPr>
                      <a:r>
                        <a:rPr lang="en-US" sz="1200" b="1" dirty="0">
                          <a:solidFill>
                            <a:srgbClr val="FCFBF9"/>
                          </a:solidFill>
                          <a:latin typeface="Noto Sans KR" pitchFamily="34" charset="0"/>
                          <a:ea typeface="Noto Sans KR" pitchFamily="34" charset="-122"/>
                          <a:cs typeface="Noto Sans KR" pitchFamily="34" charset="-120"/>
                        </a:rPr>
                        <a:t>특징</a:t>
                      </a:r>
                      <a:endParaRPr lang="en-US" sz="12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1A1813"/>
                    </a:solidFill>
                  </a:tcPr>
                </a:tc>
              </a:tr>
              <a:tr h="457200">
                <a:tc>
                  <a:txBody>
                    <a:bodyPr/>
                    <a:lstStyle/>
                    <a:p>
                      <a:pPr algn="l" indent="0" marL="0">
                        <a:buNone/>
                      </a:pPr>
                      <a:r>
                        <a:rPr lang="en-US" sz="1400" b="1" dirty="0">
                          <a:solidFill>
                            <a:srgbClr val="9E0E1C"/>
                          </a:solidFill>
                          <a:latin typeface="Noto Sans KR" pitchFamily="34" charset="0"/>
                          <a:ea typeface="Noto Sans KR" pitchFamily="34" charset="-122"/>
                          <a:cs typeface="Noto Sans KR" pitchFamily="34" charset="-120"/>
                        </a:rPr>
                        <a:t>MHA</a:t>
                      </a:r>
                      <a:endParaRPr lang="en-US" sz="14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F6F2EB"/>
                    </a:solidFill>
                  </a:tcPr>
                </a:tc>
                <a:tc>
                  <a:txBody>
                    <a:bodyPr/>
                    <a:lstStyle/>
                    <a:p>
                      <a:pPr algn="l" indent="0" marL="0">
                        <a:buNone/>
                      </a:pPr>
                      <a:r>
                        <a:rPr lang="en-US" sz="1400" dirty="0">
                          <a:solidFill>
                            <a:srgbClr val="575249"/>
                          </a:solidFill>
                          <a:latin typeface="Noto Sans KR" pitchFamily="34" charset="0"/>
                          <a:ea typeface="Noto Sans KR" pitchFamily="34" charset="-122"/>
                          <a:cs typeface="Noto Sans KR" pitchFamily="34" charset="-120"/>
                        </a:rPr>
                        <a:t>헤드마다 따로</a:t>
                      </a:r>
                      <a:endParaRPr lang="en-US" sz="14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F6F2EB"/>
                    </a:solidFill>
                  </a:tcPr>
                </a:tc>
                <a:tc>
                  <a:txBody>
                    <a:bodyPr/>
                    <a:lstStyle/>
                    <a:p>
                      <a:pPr algn="l" indent="0" marL="0">
                        <a:buNone/>
                      </a:pPr>
                      <a:r>
                        <a:rPr lang="en-US" sz="1400" dirty="0">
                          <a:solidFill>
                            <a:srgbClr val="575249"/>
                          </a:solidFill>
                          <a:latin typeface="Noto Sans KR" pitchFamily="34" charset="0"/>
                          <a:ea typeface="Noto Sans KR" pitchFamily="34" charset="-122"/>
                          <a:cs typeface="Noto Sans KR" pitchFamily="34" charset="-120"/>
                        </a:rPr>
                        <a:t>큼</a:t>
                      </a:r>
                      <a:endParaRPr lang="en-US" sz="14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F6F2EB"/>
                    </a:solidFill>
                  </a:tcPr>
                </a:tc>
                <a:tc>
                  <a:txBody>
                    <a:bodyPr/>
                    <a:lstStyle/>
                    <a:p>
                      <a:pPr algn="l" indent="0" marL="0">
                        <a:buNone/>
                      </a:pPr>
                      <a:r>
                        <a:rPr lang="en-US" sz="1400" dirty="0">
                          <a:solidFill>
                            <a:srgbClr val="575249"/>
                          </a:solidFill>
                          <a:latin typeface="Noto Sans KR" pitchFamily="34" charset="0"/>
                          <a:ea typeface="Noto Sans KR" pitchFamily="34" charset="-122"/>
                          <a:cs typeface="Noto Sans KR" pitchFamily="34" charset="-120"/>
                        </a:rPr>
                        <a:t>표현력 최고</a:t>
                      </a:r>
                      <a:endParaRPr lang="en-US" sz="14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F6F2EB"/>
                    </a:solidFill>
                  </a:tcPr>
                </a:tc>
              </a:tr>
              <a:tr h="457200">
                <a:tc>
                  <a:txBody>
                    <a:bodyPr/>
                    <a:lstStyle/>
                    <a:p>
                      <a:pPr algn="l" indent="0" marL="0">
                        <a:buNone/>
                      </a:pPr>
                      <a:r>
                        <a:rPr lang="en-US" sz="1400" b="1" dirty="0">
                          <a:solidFill>
                            <a:srgbClr val="9E0E1C"/>
                          </a:solidFill>
                          <a:latin typeface="Noto Sans KR" pitchFamily="34" charset="0"/>
                          <a:ea typeface="Noto Sans KR" pitchFamily="34" charset="-122"/>
                          <a:cs typeface="Noto Sans KR" pitchFamily="34" charset="-120"/>
                        </a:rPr>
                        <a:t>GQA</a:t>
                      </a:r>
                      <a:endParaRPr lang="en-US" sz="14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FFFFFF"/>
                    </a:solidFill>
                  </a:tcPr>
                </a:tc>
                <a:tc>
                  <a:txBody>
                    <a:bodyPr/>
                    <a:lstStyle/>
                    <a:p>
                      <a:pPr algn="l" indent="0" marL="0">
                        <a:buNone/>
                      </a:pPr>
                      <a:r>
                        <a:rPr lang="en-US" sz="1400" dirty="0">
                          <a:solidFill>
                            <a:srgbClr val="575249"/>
                          </a:solidFill>
                          <a:latin typeface="Noto Sans KR" pitchFamily="34" charset="0"/>
                          <a:ea typeface="Noto Sans KR" pitchFamily="34" charset="-122"/>
                          <a:cs typeface="Noto Sans KR" pitchFamily="34" charset="-120"/>
                        </a:rPr>
                        <a:t>그룹으로 공유</a:t>
                      </a:r>
                      <a:endParaRPr lang="en-US" sz="14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FFFFFF"/>
                    </a:solidFill>
                  </a:tcPr>
                </a:tc>
                <a:tc>
                  <a:txBody>
                    <a:bodyPr/>
                    <a:lstStyle/>
                    <a:p>
                      <a:pPr algn="l" indent="0" marL="0">
                        <a:buNone/>
                      </a:pPr>
                      <a:r>
                        <a:rPr lang="en-US" sz="1400" dirty="0">
                          <a:solidFill>
                            <a:srgbClr val="575249"/>
                          </a:solidFill>
                          <a:latin typeface="Noto Sans KR" pitchFamily="34" charset="0"/>
                          <a:ea typeface="Noto Sans KR" pitchFamily="34" charset="-122"/>
                          <a:cs typeface="Noto Sans KR" pitchFamily="34" charset="-120"/>
                        </a:rPr>
                        <a:t>중간</a:t>
                      </a:r>
                      <a:endParaRPr lang="en-US" sz="14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FFFFFF"/>
                    </a:solidFill>
                  </a:tcPr>
                </a:tc>
                <a:tc>
                  <a:txBody>
                    <a:bodyPr/>
                    <a:lstStyle/>
                    <a:p>
                      <a:pPr algn="l" indent="0" marL="0">
                        <a:buNone/>
                      </a:pPr>
                      <a:r>
                        <a:rPr lang="en-US" sz="1400" dirty="0">
                          <a:solidFill>
                            <a:srgbClr val="575249"/>
                          </a:solidFill>
                          <a:latin typeface="Noto Sans KR" pitchFamily="34" charset="0"/>
                          <a:ea typeface="Noto Sans KR" pitchFamily="34" charset="-122"/>
                          <a:cs typeface="Noto Sans KR" pitchFamily="34" charset="-120"/>
                        </a:rPr>
                        <a:t>절충 · 오늘날 대형 모델 표준</a:t>
                      </a:r>
                      <a:endParaRPr lang="en-US" sz="14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9E0E1C"/>
                          </a:solidFill>
                          <a:latin typeface="Noto Sans KR" pitchFamily="34" charset="0"/>
                          <a:ea typeface="Noto Sans KR" pitchFamily="34" charset="-122"/>
                          <a:cs typeface="Noto Sans KR" pitchFamily="34" charset="-120"/>
                        </a:rPr>
                        <a:t>MQA</a:t>
                      </a:r>
                      <a:endParaRPr lang="en-US" sz="14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F6F2EB"/>
                    </a:solidFill>
                  </a:tcPr>
                </a:tc>
                <a:tc>
                  <a:txBody>
                    <a:bodyPr/>
                    <a:lstStyle/>
                    <a:p>
                      <a:pPr algn="l" indent="0" marL="0">
                        <a:buNone/>
                      </a:pPr>
                      <a:r>
                        <a:rPr lang="en-US" sz="1400" dirty="0">
                          <a:solidFill>
                            <a:srgbClr val="575249"/>
                          </a:solidFill>
                          <a:latin typeface="Noto Sans KR" pitchFamily="34" charset="0"/>
                          <a:ea typeface="Noto Sans KR" pitchFamily="34" charset="-122"/>
                          <a:cs typeface="Noto Sans KR" pitchFamily="34" charset="-120"/>
                        </a:rPr>
                        <a:t>1개만 공유</a:t>
                      </a:r>
                      <a:endParaRPr lang="en-US" sz="14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F6F2EB"/>
                    </a:solidFill>
                  </a:tcPr>
                </a:tc>
                <a:tc>
                  <a:txBody>
                    <a:bodyPr/>
                    <a:lstStyle/>
                    <a:p>
                      <a:pPr algn="l" indent="0" marL="0">
                        <a:buNone/>
                      </a:pPr>
                      <a:r>
                        <a:rPr lang="en-US" sz="1400" dirty="0">
                          <a:solidFill>
                            <a:srgbClr val="575249"/>
                          </a:solidFill>
                          <a:latin typeface="Noto Sans KR" pitchFamily="34" charset="0"/>
                          <a:ea typeface="Noto Sans KR" pitchFamily="34" charset="-122"/>
                          <a:cs typeface="Noto Sans KR" pitchFamily="34" charset="-120"/>
                        </a:rPr>
                        <a:t>작음</a:t>
                      </a:r>
                      <a:endParaRPr lang="en-US" sz="14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F6F2EB"/>
                    </a:solidFill>
                  </a:tcPr>
                </a:tc>
                <a:tc>
                  <a:txBody>
                    <a:bodyPr/>
                    <a:lstStyle/>
                    <a:p>
                      <a:pPr algn="l" indent="0" marL="0">
                        <a:buNone/>
                      </a:pPr>
                      <a:r>
                        <a:rPr lang="en-US" sz="1400" dirty="0">
                          <a:solidFill>
                            <a:srgbClr val="575249"/>
                          </a:solidFill>
                          <a:latin typeface="Noto Sans KR" pitchFamily="34" charset="0"/>
                          <a:ea typeface="Noto Sans KR" pitchFamily="34" charset="-122"/>
                          <a:cs typeface="Noto Sans KR" pitchFamily="34" charset="-120"/>
                        </a:rPr>
                        <a:t>최소 캐시 · 시야 좁아질 수 있음</a:t>
                      </a:r>
                      <a:endParaRPr lang="en-US" sz="1400" dirty="0">
                        <a:latin typeface="Noto Sans KR" charset="0"/>
                        <a:ea typeface="Noto Sans KR" charset="0"/>
                        <a:cs typeface="Noto Sans KR" charset="0"/>
                      </a:endParaRPr>
                    </a:p>
                  </a:txBody>
                  <a:tcPr marL="91440" marR="91440" marT="45720" marB="45720" anchor="ctr">
                    <a:lnL w="12700" cap="flat" cmpd="sng" algn="ctr">
                      <a:solidFill>
                        <a:srgbClr val="E8E3D9"/>
                      </a:solidFill>
                      <a:prstDash val="solid"/>
                      <a:round/>
                      <a:headEnd type="none" w="med" len="med"/>
                      <a:tailEnd type="none" w="med" len="med"/>
                    </a:lnL>
                    <a:lnR w="12700" cap="flat" cmpd="sng" algn="ctr">
                      <a:solidFill>
                        <a:srgbClr val="E8E3D9"/>
                      </a:solidFill>
                      <a:prstDash val="solid"/>
                      <a:round/>
                      <a:headEnd type="none" w="med" len="med"/>
                      <a:tailEnd type="none" w="med" len="med"/>
                    </a:lnR>
                    <a:lnT w="12700" cap="flat" cmpd="sng" algn="ctr">
                      <a:solidFill>
                        <a:srgbClr val="E8E3D9"/>
                      </a:solidFill>
                      <a:prstDash val="solid"/>
                      <a:round/>
                      <a:headEnd type="none" w="med" len="med"/>
                      <a:tailEnd type="none" w="med" len="med"/>
                    </a:lnT>
                    <a:lnB w="12700" cap="flat" cmpd="sng" algn="ctr">
                      <a:solidFill>
                        <a:srgbClr val="E8E3D9"/>
                      </a:solidFill>
                      <a:prstDash val="solid"/>
                      <a:round/>
                      <a:headEnd type="none" w="med" len="med"/>
                      <a:tailEnd type="none" w="med" len="med"/>
                    </a:lnB>
                    <a:solidFill>
                      <a:srgbClr val="F6F2EB"/>
                    </a:solidFill>
                  </a:tcPr>
                </a:tc>
              </a:tr>
            </a:tbl>
          </a:graphicData>
        </a:graphic>
      </p:graphicFrame>
      <p:sp>
        <p:nvSpPr>
          <p:cNvPr id="7" name="Text 4"/>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김주영</a:t>
            </a:r>
            <a:endParaRPr lang="en-US" sz="950" dirty="0"/>
          </a:p>
        </p:txBody>
      </p:sp>
      <p:sp>
        <p:nvSpPr>
          <p:cNvPr id="8" name="Text 5"/>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김주영 · 위치 인코딩</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어텐션은 순서를 모른다</a:t>
            </a:r>
            <a:endParaRPr lang="en-US" sz="2800" dirty="0"/>
          </a:p>
        </p:txBody>
      </p:sp>
      <p:sp>
        <p:nvSpPr>
          <p:cNvPr id="5" name="Text 3"/>
          <p:cNvSpPr/>
          <p:nvPr/>
        </p:nvSpPr>
        <p:spPr>
          <a:xfrm>
            <a:off x="566928" y="1965960"/>
            <a:ext cx="11064240" cy="868680"/>
          </a:xfrm>
          <a:prstGeom prst="rect">
            <a:avLst/>
          </a:prstGeom>
          <a:noFill/>
          <a:ln/>
        </p:spPr>
        <p:txBody>
          <a:bodyPr wrap="square" rtlCol="0" anchor="t"/>
          <a:lstStyle/>
          <a:p>
            <a:pPr indent="0" marL="0">
              <a:lnSpc>
                <a:spcPts val="2600"/>
              </a:lnSpc>
              <a:buNone/>
            </a:pPr>
            <a:r>
              <a:rPr lang="en-US" sz="2000" b="1" dirty="0">
                <a:solidFill>
                  <a:srgbClr val="1A1813"/>
                </a:solidFill>
                <a:latin typeface="Noto Sans KR" pitchFamily="34" charset="0"/>
                <a:ea typeface="Noto Sans KR" pitchFamily="34" charset="-122"/>
                <a:cs typeface="Noto Sans KR" pitchFamily="34" charset="-120"/>
              </a:rPr>
              <a:t>‘학생이 교사를’ vs ‘교사가 학생을’ — 같은 토큰, 순서로 뜻이 뒤집힌다.</a:t>
            </a:r>
            <a:endParaRPr lang="en-US" sz="2000" dirty="0"/>
          </a:p>
        </p:txBody>
      </p:sp>
      <p:sp>
        <p:nvSpPr>
          <p:cNvPr id="6" name="Text 4"/>
          <p:cNvSpPr/>
          <p:nvPr/>
        </p:nvSpPr>
        <p:spPr>
          <a:xfrm>
            <a:off x="566928" y="3063240"/>
            <a:ext cx="11064240" cy="1463040"/>
          </a:xfrm>
          <a:prstGeom prst="rect">
            <a:avLst/>
          </a:prstGeom>
          <a:noFill/>
          <a:ln/>
        </p:spPr>
        <p:txBody>
          <a:bodyPr wrap="square" rtlCol="0" anchor="t"/>
          <a:lstStyle/>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어텐션은 모든 토큰을 동시에 보기 때문에 ‘몇 번째인지’ 자체를 모른다</a:t>
            </a:r>
            <a:endParaRPr lang="en-US" sz="1700" dirty="0"/>
          </a:p>
          <a:p>
            <a:pPr marL="203200" indent="-203200">
              <a:lnSpc>
                <a:spcPts val="2500"/>
              </a:lnSpc>
              <a:spcAft>
                <a:spcPts val="1000"/>
              </a:spcAft>
              <a:buSzPct val="100000"/>
              <a:buChar char="•"/>
            </a:pPr>
            <a:r>
              <a:rPr lang="en-US" sz="1700" dirty="0">
                <a:solidFill>
                  <a:srgbClr val="575249"/>
                </a:solidFill>
                <a:latin typeface="Noto Sans KR" pitchFamily="34" charset="0"/>
                <a:ea typeface="Noto Sans KR" pitchFamily="34" charset="-122"/>
                <a:cs typeface="Noto Sans KR" pitchFamily="34" charset="-120"/>
              </a:rPr>
              <a:t>그래서 위치 정보를 임베딩에 따로 주입 — 그 방식이 다룰 수 있는 문장 길이(컨텍스트)를 좌우</a:t>
            </a:r>
            <a:endParaRPr lang="en-US" sz="1700" dirty="0"/>
          </a:p>
        </p:txBody>
      </p:sp>
      <p:sp>
        <p:nvSpPr>
          <p:cNvPr id="7" name="Text 5"/>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김주영</a:t>
            </a:r>
            <a:endParaRPr lang="en-US" sz="950" dirty="0"/>
          </a:p>
        </p:txBody>
      </p:sp>
      <p:sp>
        <p:nvSpPr>
          <p:cNvPr id="8" name="Text 6"/>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김주영 · 위치 인코딩</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순서를 주입하는 4가지 방식</a:t>
            </a:r>
            <a:endParaRPr lang="en-US" sz="2800" dirty="0"/>
          </a:p>
        </p:txBody>
      </p:sp>
      <p:sp>
        <p:nvSpPr>
          <p:cNvPr id="5" name="Shape 3"/>
          <p:cNvSpPr/>
          <p:nvPr/>
        </p:nvSpPr>
        <p:spPr>
          <a:xfrm>
            <a:off x="566928" y="2286000"/>
            <a:ext cx="2546604" cy="2377440"/>
          </a:xfrm>
          <a:prstGeom prst="roundRect">
            <a:avLst>
              <a:gd name="adj" fmla="val 3462"/>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6" name="Text 4"/>
          <p:cNvSpPr/>
          <p:nvPr/>
        </p:nvSpPr>
        <p:spPr>
          <a:xfrm>
            <a:off x="786384" y="2459736"/>
            <a:ext cx="2107692"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SINUSOIDAL · 원조</a:t>
            </a:r>
            <a:endParaRPr lang="en-US" sz="1000" dirty="0"/>
          </a:p>
        </p:txBody>
      </p:sp>
      <p:sp>
        <p:nvSpPr>
          <p:cNvPr id="7" name="Text 5"/>
          <p:cNvSpPr/>
          <p:nvPr/>
        </p:nvSpPr>
        <p:spPr>
          <a:xfrm>
            <a:off x="786384" y="2734056"/>
            <a:ext cx="2107692"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파형을 더함</a:t>
            </a:r>
            <a:endParaRPr lang="en-US" sz="1700" dirty="0"/>
          </a:p>
        </p:txBody>
      </p:sp>
      <p:sp>
        <p:nvSpPr>
          <p:cNvPr id="8" name="Text 6"/>
          <p:cNvSpPr/>
          <p:nvPr/>
        </p:nvSpPr>
        <p:spPr>
          <a:xfrm>
            <a:off x="786384" y="3218688"/>
            <a:ext cx="2107692" cy="128016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위치마다 다른 사인·코사인 파형을 임베딩에 더함 (학습 안 하는 고정 신호)</a:t>
            </a:r>
            <a:endParaRPr lang="en-US" sz="1300" dirty="0"/>
          </a:p>
        </p:txBody>
      </p:sp>
      <p:sp>
        <p:nvSpPr>
          <p:cNvPr id="9" name="Shape 7"/>
          <p:cNvSpPr/>
          <p:nvPr/>
        </p:nvSpPr>
        <p:spPr>
          <a:xfrm>
            <a:off x="3406140" y="2286000"/>
            <a:ext cx="2546604" cy="2377440"/>
          </a:xfrm>
          <a:prstGeom prst="roundRect">
            <a:avLst>
              <a:gd name="adj" fmla="val 3462"/>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10" name="Text 8"/>
          <p:cNvSpPr/>
          <p:nvPr/>
        </p:nvSpPr>
        <p:spPr>
          <a:xfrm>
            <a:off x="3625596" y="2459736"/>
            <a:ext cx="2107692"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LEARNED · 학습형</a:t>
            </a:r>
            <a:endParaRPr lang="en-US" sz="1000" dirty="0"/>
          </a:p>
        </p:txBody>
      </p:sp>
      <p:sp>
        <p:nvSpPr>
          <p:cNvPr id="11" name="Text 9"/>
          <p:cNvSpPr/>
          <p:nvPr/>
        </p:nvSpPr>
        <p:spPr>
          <a:xfrm>
            <a:off x="3625596" y="2734056"/>
            <a:ext cx="2107692"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학습되는 벡터</a:t>
            </a:r>
            <a:endParaRPr lang="en-US" sz="1700" dirty="0"/>
          </a:p>
        </p:txBody>
      </p:sp>
      <p:sp>
        <p:nvSpPr>
          <p:cNvPr id="12" name="Text 10"/>
          <p:cNvSpPr/>
          <p:nvPr/>
        </p:nvSpPr>
        <p:spPr>
          <a:xfrm>
            <a:off x="3625596" y="3218688"/>
            <a:ext cx="2107692" cy="128016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위치 번호마다 벡터를 직접 학습 · 학습한 최대 길이 밖은 불안정</a:t>
            </a:r>
            <a:endParaRPr lang="en-US" sz="1300" dirty="0"/>
          </a:p>
        </p:txBody>
      </p:sp>
      <p:sp>
        <p:nvSpPr>
          <p:cNvPr id="13" name="Shape 11"/>
          <p:cNvSpPr/>
          <p:nvPr/>
        </p:nvSpPr>
        <p:spPr>
          <a:xfrm>
            <a:off x="6245352" y="2286000"/>
            <a:ext cx="2546604" cy="2377440"/>
          </a:xfrm>
          <a:prstGeom prst="roundRect">
            <a:avLst>
              <a:gd name="adj" fmla="val 3462"/>
            </a:avLst>
          </a:prstGeom>
          <a:solidFill>
            <a:srgbClr val="FBE7E8"/>
          </a:solidFill>
          <a:ln w="15875">
            <a:solidFill>
              <a:srgbClr val="CE1225"/>
            </a:solidFill>
            <a:prstDash val="solid"/>
          </a:ln>
          <a:effectLst>
            <a:outerShdw sx="100000" sy="100000" kx="0" ky="0" algn="bl" rotWithShape="0" blurRad="88900" dist="38100" dir="5400000">
              <a:srgbClr val="6E6A62">
                <a:alpha val="18000"/>
              </a:srgbClr>
            </a:outerShdw>
          </a:effectLst>
        </p:spPr>
      </p:sp>
      <p:sp>
        <p:nvSpPr>
          <p:cNvPr id="14" name="Text 12"/>
          <p:cNvSpPr/>
          <p:nvPr/>
        </p:nvSpPr>
        <p:spPr>
          <a:xfrm>
            <a:off x="6464808" y="2459736"/>
            <a:ext cx="2107692" cy="256032"/>
          </a:xfrm>
          <a:prstGeom prst="rect">
            <a:avLst/>
          </a:prstGeom>
          <a:noFill/>
          <a:ln/>
        </p:spPr>
        <p:txBody>
          <a:bodyPr wrap="square" rtlCol="0" anchor="ctr"/>
          <a:lstStyle/>
          <a:p>
            <a:pPr indent="0" marL="0">
              <a:buNone/>
            </a:pPr>
            <a:r>
              <a:rPr lang="en-US" sz="1000" b="1" spc="150" kern="0" dirty="0">
                <a:solidFill>
                  <a:srgbClr val="9E0E1C"/>
                </a:solidFill>
                <a:latin typeface="Noto Sans KR" pitchFamily="34" charset="0"/>
                <a:ea typeface="Noto Sans KR" pitchFamily="34" charset="-122"/>
                <a:cs typeface="Noto Sans KR" pitchFamily="34" charset="-120"/>
              </a:rPr>
              <a:t>ROPE · 회전형</a:t>
            </a:r>
            <a:endParaRPr lang="en-US" sz="1000" dirty="0"/>
          </a:p>
        </p:txBody>
      </p:sp>
      <p:sp>
        <p:nvSpPr>
          <p:cNvPr id="15" name="Text 13"/>
          <p:cNvSpPr/>
          <p:nvPr/>
        </p:nvSpPr>
        <p:spPr>
          <a:xfrm>
            <a:off x="6464808" y="2734056"/>
            <a:ext cx="2107692"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위치만큼 회전</a:t>
            </a:r>
            <a:endParaRPr lang="en-US" sz="1700" dirty="0"/>
          </a:p>
        </p:txBody>
      </p:sp>
      <p:sp>
        <p:nvSpPr>
          <p:cNvPr id="16" name="Text 14"/>
          <p:cNvSpPr/>
          <p:nvPr/>
        </p:nvSpPr>
        <p:spPr>
          <a:xfrm>
            <a:off x="6464808" y="3218688"/>
            <a:ext cx="2107692" cy="128016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Q·K 벡터를 위치만큼 회전 → 상대 거리를 각도로 자연 반영 · 요즘 표준(Llama)</a:t>
            </a:r>
            <a:endParaRPr lang="en-US" sz="1300" dirty="0"/>
          </a:p>
        </p:txBody>
      </p:sp>
      <p:sp>
        <p:nvSpPr>
          <p:cNvPr id="17" name="Shape 15"/>
          <p:cNvSpPr/>
          <p:nvPr/>
        </p:nvSpPr>
        <p:spPr>
          <a:xfrm>
            <a:off x="9084564" y="2286000"/>
            <a:ext cx="2546604" cy="2377440"/>
          </a:xfrm>
          <a:prstGeom prst="roundRect">
            <a:avLst>
              <a:gd name="adj" fmla="val 3462"/>
            </a:avLst>
          </a:prstGeom>
          <a:solidFill>
            <a:srgbClr val="FFFFFF"/>
          </a:solidFill>
          <a:ln w="12700">
            <a:solidFill>
              <a:srgbClr val="E8E3D9"/>
            </a:solidFill>
            <a:prstDash val="solid"/>
          </a:ln>
          <a:effectLst>
            <a:outerShdw sx="100000" sy="100000" kx="0" ky="0" algn="bl" rotWithShape="0" blurRad="88900" dist="38100" dir="5400000">
              <a:srgbClr val="6E6A62">
                <a:alpha val="18000"/>
              </a:srgbClr>
            </a:outerShdw>
          </a:effectLst>
        </p:spPr>
      </p:sp>
      <p:sp>
        <p:nvSpPr>
          <p:cNvPr id="18" name="Text 16"/>
          <p:cNvSpPr/>
          <p:nvPr/>
        </p:nvSpPr>
        <p:spPr>
          <a:xfrm>
            <a:off x="9304020" y="2459736"/>
            <a:ext cx="2107692" cy="256032"/>
          </a:xfrm>
          <a:prstGeom prst="rect">
            <a:avLst/>
          </a:prstGeom>
          <a:noFill/>
          <a:ln/>
        </p:spPr>
        <p:txBody>
          <a:bodyPr wrap="square" rtlCol="0" anchor="ctr"/>
          <a:lstStyle/>
          <a:p>
            <a:pPr indent="0" marL="0">
              <a:buNone/>
            </a:pPr>
            <a:r>
              <a:rPr lang="en-US" sz="1000" b="1" spc="150" kern="0" dirty="0">
                <a:solidFill>
                  <a:srgbClr val="8B8578"/>
                </a:solidFill>
                <a:latin typeface="Noto Sans KR" pitchFamily="34" charset="0"/>
                <a:ea typeface="Noto Sans KR" pitchFamily="34" charset="-122"/>
                <a:cs typeface="Noto Sans KR" pitchFamily="34" charset="-120"/>
              </a:rPr>
              <a:t>ALIBI · 페널티</a:t>
            </a:r>
            <a:endParaRPr lang="en-US" sz="1000" dirty="0"/>
          </a:p>
        </p:txBody>
      </p:sp>
      <p:sp>
        <p:nvSpPr>
          <p:cNvPr id="19" name="Text 17"/>
          <p:cNvSpPr/>
          <p:nvPr/>
        </p:nvSpPr>
        <p:spPr>
          <a:xfrm>
            <a:off x="9304020" y="2734056"/>
            <a:ext cx="2107692" cy="475488"/>
          </a:xfrm>
          <a:prstGeom prst="rect">
            <a:avLst/>
          </a:prstGeom>
          <a:noFill/>
          <a:ln/>
        </p:spPr>
        <p:txBody>
          <a:bodyPr wrap="square" rtlCol="0" anchor="t"/>
          <a:lstStyle/>
          <a:p>
            <a:pPr indent="0" marL="0">
              <a:buNone/>
            </a:pPr>
            <a:r>
              <a:rPr lang="en-US" sz="1700" b="1" dirty="0">
                <a:solidFill>
                  <a:srgbClr val="1A1813"/>
                </a:solidFill>
                <a:latin typeface="Noto Sans KR" pitchFamily="34" charset="0"/>
                <a:ea typeface="Noto Sans KR" pitchFamily="34" charset="-122"/>
                <a:cs typeface="Noto Sans KR" pitchFamily="34" charset="-120"/>
              </a:rPr>
              <a:t>멀수록 감점</a:t>
            </a:r>
            <a:endParaRPr lang="en-US" sz="1700" dirty="0"/>
          </a:p>
        </p:txBody>
      </p:sp>
      <p:sp>
        <p:nvSpPr>
          <p:cNvPr id="20" name="Text 18"/>
          <p:cNvSpPr/>
          <p:nvPr/>
        </p:nvSpPr>
        <p:spPr>
          <a:xfrm>
            <a:off x="9304020" y="3218688"/>
            <a:ext cx="2107692" cy="1280160"/>
          </a:xfrm>
          <a:prstGeom prst="rect">
            <a:avLst/>
          </a:prstGeom>
          <a:noFill/>
          <a:ln/>
        </p:spPr>
        <p:txBody>
          <a:bodyPr wrap="square" rtlCol="0" anchor="t"/>
          <a:lstStyle/>
          <a:p>
            <a:pPr indent="0" marL="0">
              <a:lnSpc>
                <a:spcPts val="1600"/>
              </a:lnSpc>
              <a:buNone/>
            </a:pPr>
            <a:r>
              <a:rPr lang="en-US" sz="1300" dirty="0">
                <a:solidFill>
                  <a:srgbClr val="575249"/>
                </a:solidFill>
                <a:latin typeface="Noto Sans KR" pitchFamily="34" charset="0"/>
                <a:ea typeface="Noto Sans KR" pitchFamily="34" charset="-122"/>
                <a:cs typeface="Noto Sans KR" pitchFamily="34" charset="-120"/>
              </a:rPr>
              <a:t>위치 벡터 없이 멀수록 점수 감점 → 학습보다 긴 문장 확장에 유리</a:t>
            </a:r>
            <a:endParaRPr lang="en-US" sz="1300" dirty="0"/>
          </a:p>
        </p:txBody>
      </p:sp>
      <p:sp>
        <p:nvSpPr>
          <p:cNvPr id="21" name="Text 19"/>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김주영</a:t>
            </a:r>
            <a:endParaRPr lang="en-US" sz="950" dirty="0"/>
          </a:p>
        </p:txBody>
      </p:sp>
      <p:sp>
        <p:nvSpPr>
          <p:cNvPr id="22" name="Text 20"/>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김주영 · 마무리</a:t>
            </a:r>
            <a:endParaRPr lang="en-US" sz="1150" dirty="0"/>
          </a:p>
        </p:txBody>
      </p:sp>
      <p:sp>
        <p:nvSpPr>
          <p:cNvPr id="4" name="Text 2"/>
          <p:cNvSpPr/>
          <p:nvPr/>
        </p:nvSpPr>
        <p:spPr>
          <a:xfrm>
            <a:off x="566928" y="896112"/>
            <a:ext cx="11064240" cy="1051560"/>
          </a:xfrm>
          <a:prstGeom prst="rect">
            <a:avLst/>
          </a:prstGeom>
          <a:noFill/>
          <a:ln/>
        </p:spPr>
        <p:txBody>
          <a:bodyPr wrap="square" rtlCol="0" anchor="t"/>
          <a:lstStyle/>
          <a:p>
            <a:pPr indent="0" marL="0">
              <a:lnSpc>
                <a:spcPts val="3100"/>
              </a:lnSpc>
              <a:buNone/>
            </a:pPr>
            <a:r>
              <a:rPr lang="en-US" sz="2800" b="1" dirty="0">
                <a:solidFill>
                  <a:srgbClr val="1A1813"/>
                </a:solidFill>
                <a:latin typeface="Noto Sans KR" pitchFamily="34" charset="0"/>
                <a:ea typeface="Noto Sans KR" pitchFamily="34" charset="-122"/>
                <a:cs typeface="Noto Sans KR" pitchFamily="34" charset="-120"/>
              </a:rPr>
              <a:t>두 길이 합류하다 — 시각(Vision)과 전 영역</a:t>
            </a:r>
            <a:endParaRPr lang="en-US" sz="2800" dirty="0"/>
          </a:p>
        </p:txBody>
      </p:sp>
      <p:sp>
        <p:nvSpPr>
          <p:cNvPr id="5" name="Text 3"/>
          <p:cNvSpPr/>
          <p:nvPr/>
        </p:nvSpPr>
        <p:spPr>
          <a:xfrm>
            <a:off x="566928" y="1920240"/>
            <a:ext cx="11064240" cy="868680"/>
          </a:xfrm>
          <a:prstGeom prst="rect">
            <a:avLst/>
          </a:prstGeom>
          <a:noFill/>
          <a:ln/>
        </p:spPr>
        <p:txBody>
          <a:bodyPr wrap="square" rtlCol="0" anchor="t"/>
          <a:lstStyle/>
          <a:p>
            <a:pPr indent="0" marL="0">
              <a:lnSpc>
                <a:spcPts val="2600"/>
              </a:lnSpc>
              <a:buNone/>
            </a:pPr>
            <a:r>
              <a:rPr lang="en-US" sz="1800" b="1" dirty="0">
                <a:solidFill>
                  <a:srgbClr val="1A1813"/>
                </a:solidFill>
                <a:latin typeface="Noto Sans KR" pitchFamily="34" charset="0"/>
                <a:ea typeface="Noto Sans KR" pitchFamily="34" charset="-122"/>
                <a:cs typeface="Noto Sans KR" pitchFamily="34" charset="-120"/>
              </a:rPr>
              <a:t>어텐션은 조각들이 서로 참고하는 계산일 뿐 → 조각이 단어일 필요가 없다.</a:t>
            </a:r>
            <a:endParaRPr lang="en-US" sz="1800" dirty="0"/>
          </a:p>
        </p:txBody>
      </p:sp>
      <p:sp>
        <p:nvSpPr>
          <p:cNvPr id="6" name="Shape 4"/>
          <p:cNvSpPr/>
          <p:nvPr/>
        </p:nvSpPr>
        <p:spPr>
          <a:xfrm>
            <a:off x="1335024" y="2834640"/>
            <a:ext cx="2834640" cy="914400"/>
          </a:xfrm>
          <a:prstGeom prst="roundRect">
            <a:avLst>
              <a:gd name="adj" fmla="val 8000"/>
            </a:avLst>
          </a:prstGeom>
          <a:solidFill>
            <a:srgbClr val="FFFFFF"/>
          </a:solidFill>
          <a:ln w="19050">
            <a:solidFill>
              <a:srgbClr val="1A1813"/>
            </a:solidFill>
            <a:prstDash val="solid"/>
          </a:ln>
        </p:spPr>
      </p:sp>
      <p:sp>
        <p:nvSpPr>
          <p:cNvPr id="7" name="Text 5"/>
          <p:cNvSpPr/>
          <p:nvPr/>
        </p:nvSpPr>
        <p:spPr>
          <a:xfrm>
            <a:off x="1335024" y="2834640"/>
            <a:ext cx="2834640" cy="914400"/>
          </a:xfrm>
          <a:prstGeom prst="rect">
            <a:avLst/>
          </a:prstGeom>
          <a:noFill/>
          <a:ln/>
        </p:spPr>
        <p:txBody>
          <a:bodyPr wrap="square" rtlCol="0" anchor="ctr"/>
          <a:lstStyle/>
          <a:p>
            <a:pPr algn="ctr" indent="0" marL="0">
              <a:buNone/>
            </a:pPr>
            <a:r>
              <a:rPr lang="en-US" sz="1400" b="1" dirty="0">
                <a:solidFill>
                  <a:srgbClr val="1A1813"/>
                </a:solidFill>
                <a:latin typeface="Noto Sans KR" pitchFamily="34" charset="0"/>
                <a:ea typeface="Noto Sans KR" pitchFamily="34" charset="-122"/>
                <a:cs typeface="Noto Sans KR" pitchFamily="34" charset="-120"/>
              </a:rPr>
              <a:t>이미지 · CNN</a:t>
            </a:r>
            <a:endParaRPr lang="en-US" sz="1400" dirty="0"/>
          </a:p>
        </p:txBody>
      </p:sp>
      <p:sp>
        <p:nvSpPr>
          <p:cNvPr id="8" name="Shape 6"/>
          <p:cNvSpPr/>
          <p:nvPr/>
        </p:nvSpPr>
        <p:spPr>
          <a:xfrm>
            <a:off x="4672584" y="2834640"/>
            <a:ext cx="2834640" cy="914400"/>
          </a:xfrm>
          <a:prstGeom prst="roundRect">
            <a:avLst>
              <a:gd name="adj" fmla="val 8000"/>
            </a:avLst>
          </a:prstGeom>
          <a:solidFill>
            <a:srgbClr val="FBE7E8"/>
          </a:solidFill>
          <a:ln w="19050">
            <a:solidFill>
              <a:srgbClr val="CE1225"/>
            </a:solidFill>
            <a:prstDash val="solid"/>
          </a:ln>
        </p:spPr>
      </p:sp>
      <p:sp>
        <p:nvSpPr>
          <p:cNvPr id="9" name="Text 7"/>
          <p:cNvSpPr/>
          <p:nvPr/>
        </p:nvSpPr>
        <p:spPr>
          <a:xfrm>
            <a:off x="4672584" y="2834640"/>
            <a:ext cx="2834640" cy="914400"/>
          </a:xfrm>
          <a:prstGeom prst="rect">
            <a:avLst/>
          </a:prstGeom>
          <a:noFill/>
          <a:ln/>
        </p:spPr>
        <p:txBody>
          <a:bodyPr wrap="square" rtlCol="0" anchor="ctr"/>
          <a:lstStyle/>
          <a:p>
            <a:pPr algn="ctr" indent="0" marL="0">
              <a:buNone/>
            </a:pPr>
            <a:r>
              <a:rPr lang="en-US" sz="1400" b="1" dirty="0">
                <a:solidFill>
                  <a:srgbClr val="9E0E1C"/>
                </a:solidFill>
                <a:latin typeface="Noto Sans KR" pitchFamily="34" charset="0"/>
                <a:ea typeface="Noto Sans KR" pitchFamily="34" charset="-122"/>
                <a:cs typeface="Noto Sans KR" pitchFamily="34" charset="-120"/>
              </a:rPr>
              <a:t>Attention · 공통 열쇠</a:t>
            </a:r>
            <a:endParaRPr lang="en-US" sz="1400" dirty="0"/>
          </a:p>
        </p:txBody>
      </p:sp>
      <p:sp>
        <p:nvSpPr>
          <p:cNvPr id="10" name="Shape 8"/>
          <p:cNvSpPr/>
          <p:nvPr/>
        </p:nvSpPr>
        <p:spPr>
          <a:xfrm>
            <a:off x="8010144" y="2834640"/>
            <a:ext cx="2834640" cy="914400"/>
          </a:xfrm>
          <a:prstGeom prst="roundRect">
            <a:avLst>
              <a:gd name="adj" fmla="val 8000"/>
            </a:avLst>
          </a:prstGeom>
          <a:solidFill>
            <a:srgbClr val="FFFFFF"/>
          </a:solidFill>
          <a:ln w="19050">
            <a:solidFill>
              <a:srgbClr val="1A1813"/>
            </a:solidFill>
            <a:prstDash val="solid"/>
          </a:ln>
        </p:spPr>
      </p:sp>
      <p:sp>
        <p:nvSpPr>
          <p:cNvPr id="11" name="Text 9"/>
          <p:cNvSpPr/>
          <p:nvPr/>
        </p:nvSpPr>
        <p:spPr>
          <a:xfrm>
            <a:off x="8010144" y="2834640"/>
            <a:ext cx="2834640" cy="914400"/>
          </a:xfrm>
          <a:prstGeom prst="rect">
            <a:avLst/>
          </a:prstGeom>
          <a:noFill/>
          <a:ln/>
        </p:spPr>
        <p:txBody>
          <a:bodyPr wrap="square" rtlCol="0" anchor="ctr"/>
          <a:lstStyle/>
          <a:p>
            <a:pPr algn="ctr" indent="0" marL="0">
              <a:buNone/>
            </a:pPr>
            <a:r>
              <a:rPr lang="en-US" sz="1400" b="1" dirty="0">
                <a:solidFill>
                  <a:srgbClr val="1A1813"/>
                </a:solidFill>
                <a:latin typeface="Noto Sans KR" pitchFamily="34" charset="0"/>
                <a:ea typeface="Noto Sans KR" pitchFamily="34" charset="-122"/>
                <a:cs typeface="Noto Sans KR" pitchFamily="34" charset="-120"/>
              </a:rPr>
              <a:t>언어 · RNN</a:t>
            </a:r>
            <a:endParaRPr lang="en-US" sz="1400" dirty="0"/>
          </a:p>
        </p:txBody>
      </p:sp>
      <p:sp>
        <p:nvSpPr>
          <p:cNvPr id="12" name="Text 10"/>
          <p:cNvSpPr/>
          <p:nvPr/>
        </p:nvSpPr>
        <p:spPr>
          <a:xfrm>
            <a:off x="4169664" y="2834640"/>
            <a:ext cx="502920" cy="914400"/>
          </a:xfrm>
          <a:prstGeom prst="rect">
            <a:avLst/>
          </a:prstGeom>
          <a:noFill/>
          <a:ln/>
        </p:spPr>
        <p:txBody>
          <a:bodyPr wrap="square" rtlCol="0" anchor="ctr"/>
          <a:lstStyle/>
          <a:p>
            <a:pPr algn="ctr" indent="0" marL="0">
              <a:buNone/>
            </a:pPr>
            <a:r>
              <a:rPr lang="en-US" sz="2000" dirty="0">
                <a:solidFill>
                  <a:srgbClr val="8B8578"/>
                </a:solidFill>
                <a:latin typeface="Noto Sans KR" pitchFamily="34" charset="0"/>
                <a:ea typeface="Noto Sans KR" pitchFamily="34" charset="-122"/>
                <a:cs typeface="Noto Sans KR" pitchFamily="34" charset="-120"/>
              </a:rPr>
              <a:t>→</a:t>
            </a:r>
            <a:endParaRPr lang="en-US" sz="2000" dirty="0"/>
          </a:p>
        </p:txBody>
      </p:sp>
      <p:sp>
        <p:nvSpPr>
          <p:cNvPr id="13" name="Text 11"/>
          <p:cNvSpPr/>
          <p:nvPr/>
        </p:nvSpPr>
        <p:spPr>
          <a:xfrm>
            <a:off x="7507224" y="2834640"/>
            <a:ext cx="502920" cy="914400"/>
          </a:xfrm>
          <a:prstGeom prst="rect">
            <a:avLst/>
          </a:prstGeom>
          <a:noFill/>
          <a:ln/>
        </p:spPr>
        <p:txBody>
          <a:bodyPr wrap="square" rtlCol="0" anchor="ctr"/>
          <a:lstStyle/>
          <a:p>
            <a:pPr algn="ctr" indent="0" marL="0">
              <a:buNone/>
            </a:pPr>
            <a:r>
              <a:rPr lang="en-US" sz="2000" dirty="0">
                <a:solidFill>
                  <a:srgbClr val="8B8578"/>
                </a:solidFill>
                <a:latin typeface="Noto Sans KR" pitchFamily="34" charset="0"/>
                <a:ea typeface="Noto Sans KR" pitchFamily="34" charset="-122"/>
                <a:cs typeface="Noto Sans KR" pitchFamily="34" charset="-120"/>
              </a:rPr>
              <a:t>←</a:t>
            </a:r>
            <a:endParaRPr lang="en-US" sz="2000" dirty="0"/>
          </a:p>
        </p:txBody>
      </p:sp>
      <p:sp>
        <p:nvSpPr>
          <p:cNvPr id="14" name="Text 12"/>
          <p:cNvSpPr/>
          <p:nvPr/>
        </p:nvSpPr>
        <p:spPr>
          <a:xfrm>
            <a:off x="566928" y="4114800"/>
            <a:ext cx="11064240" cy="365760"/>
          </a:xfrm>
          <a:prstGeom prst="rect">
            <a:avLst/>
          </a:prstGeom>
          <a:noFill/>
          <a:ln/>
        </p:spPr>
        <p:txBody>
          <a:bodyPr wrap="square" rtlCol="0" anchor="ctr"/>
          <a:lstStyle/>
          <a:p>
            <a:pPr algn="ctr" indent="0" marL="0">
              <a:buNone/>
            </a:pPr>
            <a:r>
              <a:rPr lang="en-US" sz="1400" dirty="0">
                <a:solidFill>
                  <a:srgbClr val="575249"/>
                </a:solidFill>
                <a:latin typeface="Noto Sans KR" pitchFamily="34" charset="0"/>
                <a:ea typeface="Noto Sans KR" pitchFamily="34" charset="-122"/>
                <a:cs typeface="Noto Sans KR" pitchFamily="34" charset="-120"/>
              </a:rPr>
              <a:t>ViT 이미지=패치 · Whisper 소리 · DiT 이미지 생성 · 강화학습·단백질·로봇</a:t>
            </a:r>
            <a:endParaRPr lang="en-US" sz="1400" dirty="0"/>
          </a:p>
        </p:txBody>
      </p:sp>
      <p:sp>
        <p:nvSpPr>
          <p:cNvPr id="15" name="Text 13"/>
          <p:cNvSpPr/>
          <p:nvPr/>
        </p:nvSpPr>
        <p:spPr>
          <a:xfrm>
            <a:off x="566928" y="4645152"/>
            <a:ext cx="11064240" cy="411480"/>
          </a:xfrm>
          <a:prstGeom prst="rect">
            <a:avLst/>
          </a:prstGeom>
          <a:noFill/>
          <a:ln/>
        </p:spPr>
        <p:txBody>
          <a:bodyPr wrap="square" rtlCol="0" anchor="ctr"/>
          <a:lstStyle/>
          <a:p>
            <a:pPr algn="ctr" indent="0" marL="0">
              <a:buNone/>
            </a:pPr>
            <a:r>
              <a:rPr lang="en-US" sz="1500" b="1" dirty="0">
                <a:solidFill>
                  <a:srgbClr val="1A1813"/>
                </a:solidFill>
                <a:latin typeface="Noto Sans KR" pitchFamily="34" charset="0"/>
                <a:ea typeface="Noto Sans KR" pitchFamily="34" charset="-122"/>
                <a:cs typeface="Noto Sans KR" pitchFamily="34" charset="-120"/>
              </a:rPr>
              <a:t>구조 하나를 알면 다 읽힌다 — 무엇을 토큰으로 잘랐나 / 무엇이 무엇을 참고하나</a:t>
            </a:r>
            <a:endParaRPr lang="en-US" sz="1500" dirty="0"/>
          </a:p>
        </p:txBody>
      </p:sp>
      <p:sp>
        <p:nvSpPr>
          <p:cNvPr id="16" name="Text 14"/>
          <p:cNvSpPr/>
          <p:nvPr/>
        </p:nvSpPr>
        <p:spPr>
          <a:xfrm>
            <a:off x="566928" y="5193792"/>
            <a:ext cx="11064240" cy="365760"/>
          </a:xfrm>
          <a:prstGeom prst="rect">
            <a:avLst/>
          </a:prstGeom>
          <a:noFill/>
          <a:ln/>
        </p:spPr>
        <p:txBody>
          <a:bodyPr wrap="square" rtlCol="0" anchor="ctr"/>
          <a:lstStyle/>
          <a:p>
            <a:pPr algn="ctr" indent="0" marL="0">
              <a:buNone/>
            </a:pPr>
            <a:r>
              <a:rPr lang="en-US" sz="1300" dirty="0">
                <a:solidFill>
                  <a:srgbClr val="575249"/>
                </a:solidFill>
                <a:latin typeface="Noto Sans KR" pitchFamily="34" charset="0"/>
                <a:ea typeface="Noto Sans KR" pitchFamily="34" charset="-122"/>
                <a:cs typeface="Noto Sans KR" pitchFamily="34" charset="-120"/>
              </a:rPr>
              <a:t>다음 이야기 → 같은 트랜스포머를 어떻게 쌓느냐에 따라 BERT(이해)와 GPT(생성)로 갈라진다.</a:t>
            </a:r>
            <a:endParaRPr lang="en-US" sz="1300" dirty="0"/>
          </a:p>
        </p:txBody>
      </p:sp>
      <p:sp>
        <p:nvSpPr>
          <p:cNvPr id="17" name="Text 15"/>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TRANSFORMER · 티처팀 · 김주영</a:t>
            </a:r>
            <a:endParaRPr lang="en-US" sz="950" dirty="0"/>
          </a:p>
        </p:txBody>
      </p:sp>
      <p:sp>
        <p:nvSpPr>
          <p:cNvPr id="18" name="Text 16"/>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813"/>
        </a:solidFill>
      </p:bgPr>
    </p:bg>
    <p:spTree>
      <p:nvGrpSpPr>
        <p:cNvPr id="1" name=""/>
        <p:cNvGrpSpPr/>
        <p:nvPr/>
      </p:nvGrpSpPr>
      <p:grpSpPr>
        <a:xfrm>
          <a:off x="0" y="0"/>
          <a:ext cx="0" cy="0"/>
          <a:chOff x="0" y="0"/>
          <a:chExt cx="0" cy="0"/>
        </a:xfrm>
      </p:grpSpPr>
      <p:sp>
        <p:nvSpPr>
          <p:cNvPr id="2" name="Text 0"/>
          <p:cNvSpPr/>
          <p:nvPr/>
        </p:nvSpPr>
        <p:spPr>
          <a:xfrm>
            <a:off x="6035040" y="365760"/>
            <a:ext cx="5852160" cy="5486400"/>
          </a:xfrm>
          <a:prstGeom prst="rect">
            <a:avLst/>
          </a:prstGeom>
          <a:noFill/>
          <a:ln/>
        </p:spPr>
        <p:txBody>
          <a:bodyPr wrap="square" rtlCol="0" anchor="t"/>
          <a:lstStyle/>
          <a:p>
            <a:pPr algn="r" indent="0" marL="0">
              <a:buNone/>
            </a:pPr>
            <a:r>
              <a:rPr lang="en-US" sz="20000" b="1" dirty="0">
                <a:solidFill>
                  <a:srgbClr val="221E1A"/>
                </a:solidFill>
                <a:latin typeface="Noto Sans KR" pitchFamily="34" charset="0"/>
                <a:ea typeface="Noto Sans KR" pitchFamily="34" charset="-122"/>
                <a:cs typeface="Noto Sans KR" pitchFamily="34" charset="-120"/>
              </a:rPr>
              <a:t>Q&amp;A</a:t>
            </a:r>
            <a:endParaRPr lang="en-US" sz="20000" dirty="0"/>
          </a:p>
        </p:txBody>
      </p:sp>
      <p:sp>
        <p:nvSpPr>
          <p:cNvPr id="3" name="Shape 1"/>
          <p:cNvSpPr/>
          <p:nvPr/>
        </p:nvSpPr>
        <p:spPr>
          <a:xfrm>
            <a:off x="566928" y="548640"/>
            <a:ext cx="118872" cy="118872"/>
          </a:xfrm>
          <a:prstGeom prst="rect">
            <a:avLst/>
          </a:prstGeom>
          <a:solidFill>
            <a:srgbClr val="FF6B74"/>
          </a:solidFill>
          <a:ln/>
        </p:spPr>
      </p:sp>
      <p:sp>
        <p:nvSpPr>
          <p:cNvPr id="4" name="Text 2"/>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FF6B74"/>
                </a:solidFill>
                <a:latin typeface="Noto Sans KR" pitchFamily="34" charset="0"/>
                <a:ea typeface="Noto Sans KR" pitchFamily="34" charset="-122"/>
                <a:cs typeface="Noto Sans KR" pitchFamily="34" charset="-120"/>
              </a:rPr>
              <a:t>예상질문 · Q&amp;A</a:t>
            </a:r>
            <a:endParaRPr lang="en-US" sz="1150" dirty="0"/>
          </a:p>
        </p:txBody>
      </p:sp>
      <p:sp>
        <p:nvSpPr>
          <p:cNvPr id="5" name="Text 3"/>
          <p:cNvSpPr/>
          <p:nvPr/>
        </p:nvSpPr>
        <p:spPr>
          <a:xfrm>
            <a:off x="566928" y="2331720"/>
            <a:ext cx="8229600" cy="1188720"/>
          </a:xfrm>
          <a:prstGeom prst="rect">
            <a:avLst/>
          </a:prstGeom>
          <a:noFill/>
          <a:ln/>
        </p:spPr>
        <p:txBody>
          <a:bodyPr wrap="square" rtlCol="0" anchor="t"/>
          <a:lstStyle/>
          <a:p>
            <a:pPr indent="0" marL="0">
              <a:lnSpc>
                <a:spcPts val="4200"/>
              </a:lnSpc>
              <a:buNone/>
            </a:pPr>
            <a:r>
              <a:rPr lang="en-US" sz="3600" b="1" dirty="0">
                <a:solidFill>
                  <a:srgbClr val="FFFFFF"/>
                </a:solidFill>
                <a:latin typeface="Noto Sans KR" pitchFamily="34" charset="0"/>
                <a:ea typeface="Noto Sans KR" pitchFamily="34" charset="-122"/>
                <a:cs typeface="Noto Sans KR" pitchFamily="34" charset="-120"/>
              </a:rPr>
              <a:t>트랜스포머 예상질문 &amp; 모범답안</a:t>
            </a:r>
            <a:endParaRPr lang="en-US" sz="3600" dirty="0"/>
          </a:p>
        </p:txBody>
      </p:sp>
      <p:sp>
        <p:nvSpPr>
          <p:cNvPr id="6" name="Text 4"/>
          <p:cNvSpPr/>
          <p:nvPr/>
        </p:nvSpPr>
        <p:spPr>
          <a:xfrm>
            <a:off x="566928" y="3794760"/>
            <a:ext cx="7772400" cy="457200"/>
          </a:xfrm>
          <a:prstGeom prst="rect">
            <a:avLst/>
          </a:prstGeom>
          <a:noFill/>
          <a:ln/>
        </p:spPr>
        <p:txBody>
          <a:bodyPr wrap="square" rtlCol="0" anchor="ctr"/>
          <a:lstStyle/>
          <a:p>
            <a:pPr indent="0" marL="0">
              <a:buNone/>
            </a:pPr>
            <a:r>
              <a:rPr lang="en-US" sz="1800" b="1" dirty="0">
                <a:solidFill>
                  <a:srgbClr val="FF6B74"/>
                </a:solidFill>
                <a:latin typeface="Noto Sans KR" pitchFamily="34" charset="0"/>
                <a:ea typeface="Noto Sans KR" pitchFamily="34" charset="-122"/>
                <a:cs typeface="Noto Sans KR" pitchFamily="34" charset="-120"/>
              </a:rPr>
              <a:t>Q&amp;A 답변자 김지훈 · 변인선</a:t>
            </a:r>
            <a:endParaRPr lang="en-US" sz="1800" dirty="0"/>
          </a:p>
        </p:txBody>
      </p:sp>
      <p:sp>
        <p:nvSpPr>
          <p:cNvPr id="7" name="Text 5"/>
          <p:cNvSpPr/>
          <p:nvPr/>
        </p:nvSpPr>
        <p:spPr>
          <a:xfrm>
            <a:off x="566928" y="4434840"/>
            <a:ext cx="7772400" cy="1554480"/>
          </a:xfrm>
          <a:prstGeom prst="rect">
            <a:avLst/>
          </a:prstGeom>
          <a:noFill/>
          <a:ln/>
        </p:spPr>
        <p:txBody>
          <a:bodyPr wrap="square" rtlCol="0" anchor="t"/>
          <a:lstStyle/>
          <a:p>
            <a:pPr indent="0" marL="0">
              <a:lnSpc>
                <a:spcPts val="2400"/>
              </a:lnSpc>
              <a:buNone/>
            </a:pPr>
            <a:r>
              <a:rPr lang="en-US" sz="1600" dirty="0">
                <a:solidFill>
                  <a:srgbClr val="C9C3B8"/>
                </a:solidFill>
                <a:latin typeface="Noto Sans KR" pitchFamily="34" charset="0"/>
                <a:ea typeface="Noto Sans KR" pitchFamily="34" charset="-122"/>
                <a:cs typeface="Noto Sans KR" pitchFamily="34" charset="-120"/>
              </a:rPr>
              <a:t>Q1–Q10 발표팀 준비 + Q11–Q20 보충 심화 · 총 20문항</a:t>
            </a:r>
            <a:endParaRPr lang="en-US" sz="1600" dirty="0"/>
          </a:p>
          <a:p>
            <a:pPr indent="0" marL="0">
              <a:lnSpc>
                <a:spcPts val="2400"/>
              </a:lnSpc>
              <a:buNone/>
            </a:pPr>
            <a:r>
              <a:rPr lang="en-US" sz="1600" dirty="0">
                <a:solidFill>
                  <a:srgbClr val="C9C3B8"/>
                </a:solidFill>
                <a:latin typeface="Noto Sans KR" pitchFamily="34" charset="0"/>
                <a:ea typeface="Noto Sans KR" pitchFamily="34" charset="-122"/>
                <a:cs typeface="Noto Sans KR" pitchFamily="34" charset="-120"/>
              </a:rPr>
              <a:t>Part 1 등장과 기본 — Part 2 메커니즘 — Part 3 실전 이슈 전체 커버</a:t>
            </a:r>
            <a:endParaRPr lang="en-US" sz="1600" dirty="0"/>
          </a:p>
        </p:txBody>
      </p:sp>
      <p:sp>
        <p:nvSpPr>
          <p:cNvPr id="8" name="Text 6"/>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6E6A62"/>
                </a:solidFill>
                <a:latin typeface="Noto Sans KR" pitchFamily="34" charset="0"/>
                <a:ea typeface="Noto Sans KR" pitchFamily="34" charset="-122"/>
                <a:cs typeface="Noto Sans KR" pitchFamily="34" charset="-120"/>
              </a:rPr>
              <a:t>답변자 전용 · 트랜스포머 예상질문 &amp; 모범답안</a:t>
            </a:r>
            <a:endParaRPr lang="en-US" sz="950" dirty="0"/>
          </a:p>
        </p:txBody>
      </p:sp>
      <p:sp>
        <p:nvSpPr>
          <p:cNvPr id="9" name="Text 7"/>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FF6B74"/>
                </a:solidFill>
                <a:latin typeface="Noto Sans KR" pitchFamily="34" charset="0"/>
                <a:ea typeface="Noto Sans KR" pitchFamily="34" charset="-122"/>
                <a:cs typeface="Noto Sans K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813"/>
        </a:solidFill>
      </p:bgPr>
    </p:bg>
    <p:spTree>
      <p:nvGrpSpPr>
        <p:cNvPr id="1" name=""/>
        <p:cNvGrpSpPr/>
        <p:nvPr/>
      </p:nvGrpSpPr>
      <p:grpSpPr>
        <a:xfrm>
          <a:off x="0" y="0"/>
          <a:ext cx="0" cy="0"/>
          <a:chOff x="0" y="0"/>
          <a:chExt cx="0" cy="0"/>
        </a:xfrm>
      </p:grpSpPr>
      <p:sp>
        <p:nvSpPr>
          <p:cNvPr id="2" name="Text 0"/>
          <p:cNvSpPr/>
          <p:nvPr/>
        </p:nvSpPr>
        <p:spPr>
          <a:xfrm>
            <a:off x="6035040" y="365760"/>
            <a:ext cx="5852160" cy="5486400"/>
          </a:xfrm>
          <a:prstGeom prst="rect">
            <a:avLst/>
          </a:prstGeom>
          <a:noFill/>
          <a:ln/>
        </p:spPr>
        <p:txBody>
          <a:bodyPr wrap="square" rtlCol="0" anchor="t"/>
          <a:lstStyle/>
          <a:p>
            <a:pPr algn="r" indent="0" marL="0">
              <a:buNone/>
            </a:pPr>
            <a:r>
              <a:rPr lang="en-US" sz="20000" b="1" dirty="0">
                <a:solidFill>
                  <a:srgbClr val="221E1A"/>
                </a:solidFill>
                <a:latin typeface="Noto Sans KR" pitchFamily="34" charset="0"/>
                <a:ea typeface="Noto Sans KR" pitchFamily="34" charset="-122"/>
                <a:cs typeface="Noto Sans KR" pitchFamily="34" charset="-120"/>
              </a:rPr>
              <a:t>Q&amp;A</a:t>
            </a:r>
            <a:endParaRPr lang="en-US" sz="20000" dirty="0"/>
          </a:p>
        </p:txBody>
      </p:sp>
      <p:sp>
        <p:nvSpPr>
          <p:cNvPr id="3" name="Shape 1"/>
          <p:cNvSpPr/>
          <p:nvPr/>
        </p:nvSpPr>
        <p:spPr>
          <a:xfrm>
            <a:off x="566928" y="548640"/>
            <a:ext cx="118872" cy="118872"/>
          </a:xfrm>
          <a:prstGeom prst="rect">
            <a:avLst/>
          </a:prstGeom>
          <a:solidFill>
            <a:srgbClr val="FF6B74"/>
          </a:solidFill>
          <a:ln/>
        </p:spPr>
      </p:sp>
      <p:sp>
        <p:nvSpPr>
          <p:cNvPr id="4" name="Text 2"/>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FF6B74"/>
                </a:solidFill>
                <a:latin typeface="Noto Sans KR" pitchFamily="34" charset="0"/>
                <a:ea typeface="Noto Sans KR" pitchFamily="34" charset="-122"/>
                <a:cs typeface="Noto Sans KR" pitchFamily="34" charset="-120"/>
              </a:rPr>
              <a:t>예상질문 · Q&amp;A</a:t>
            </a:r>
            <a:endParaRPr lang="en-US" sz="1150" dirty="0"/>
          </a:p>
        </p:txBody>
      </p:sp>
      <p:sp>
        <p:nvSpPr>
          <p:cNvPr id="5" name="Text 3"/>
          <p:cNvSpPr/>
          <p:nvPr/>
        </p:nvSpPr>
        <p:spPr>
          <a:xfrm>
            <a:off x="566928" y="2331720"/>
            <a:ext cx="8229600" cy="1188720"/>
          </a:xfrm>
          <a:prstGeom prst="rect">
            <a:avLst/>
          </a:prstGeom>
          <a:noFill/>
          <a:ln/>
        </p:spPr>
        <p:txBody>
          <a:bodyPr wrap="square" rtlCol="0" anchor="t"/>
          <a:lstStyle/>
          <a:p>
            <a:pPr indent="0" marL="0">
              <a:lnSpc>
                <a:spcPts val="4200"/>
              </a:lnSpc>
              <a:buNone/>
            </a:pPr>
            <a:r>
              <a:rPr lang="en-US" sz="3600" b="1" dirty="0">
                <a:solidFill>
                  <a:srgbClr val="FFFFFF"/>
                </a:solidFill>
                <a:latin typeface="Noto Sans KR" pitchFamily="34" charset="0"/>
                <a:ea typeface="Noto Sans KR" pitchFamily="34" charset="-122"/>
                <a:cs typeface="Noto Sans KR" pitchFamily="34" charset="-120"/>
              </a:rPr>
              <a:t>Q1–Q10 · 발표팀 준비</a:t>
            </a:r>
            <a:endParaRPr lang="en-US" sz="3600" dirty="0"/>
          </a:p>
        </p:txBody>
      </p:sp>
      <p:sp>
        <p:nvSpPr>
          <p:cNvPr id="6" name="Text 4"/>
          <p:cNvSpPr/>
          <p:nvPr/>
        </p:nvSpPr>
        <p:spPr>
          <a:xfrm>
            <a:off x="566928" y="3794760"/>
            <a:ext cx="7772400" cy="1554480"/>
          </a:xfrm>
          <a:prstGeom prst="rect">
            <a:avLst/>
          </a:prstGeom>
          <a:noFill/>
          <a:ln/>
        </p:spPr>
        <p:txBody>
          <a:bodyPr wrap="square" rtlCol="0" anchor="t"/>
          <a:lstStyle/>
          <a:p>
            <a:pPr indent="0" marL="0">
              <a:lnSpc>
                <a:spcPts val="2400"/>
              </a:lnSpc>
              <a:buNone/>
            </a:pPr>
            <a:r>
              <a:rPr lang="en-US" sz="1600" dirty="0">
                <a:solidFill>
                  <a:srgbClr val="C9C3B8"/>
                </a:solidFill>
                <a:latin typeface="Noto Sans KR" pitchFamily="34" charset="0"/>
                <a:ea typeface="Noto Sans KR" pitchFamily="34" charset="-122"/>
                <a:cs typeface="Noto Sans KR" pitchFamily="34" charset="-120"/>
              </a:rPr>
              <a:t>실제 발표 스크립트를 그대로 반영한 기본 질의응답.</a:t>
            </a:r>
            <a:endParaRPr lang="en-US" sz="1600" dirty="0"/>
          </a:p>
          <a:p>
            <a:pPr indent="0" marL="0">
              <a:lnSpc>
                <a:spcPts val="2400"/>
              </a:lnSpc>
              <a:buNone/>
            </a:pPr>
            <a:r>
              <a:rPr lang="en-US" sz="1600" dirty="0">
                <a:solidFill>
                  <a:srgbClr val="C9C3B8"/>
                </a:solidFill>
                <a:latin typeface="Noto Sans KR" pitchFamily="34" charset="0"/>
                <a:ea typeface="Noto Sans KR" pitchFamily="34" charset="-122"/>
                <a:cs typeface="Noto Sans KR" pitchFamily="34" charset="-120"/>
              </a:rPr>
              <a:t>세 발표 파트 전반에서 골고루 나올 수 있는 질문들.</a:t>
            </a:r>
            <a:endParaRPr lang="en-US" sz="1600" dirty="0"/>
          </a:p>
        </p:txBody>
      </p:sp>
      <p:sp>
        <p:nvSpPr>
          <p:cNvPr id="7" name="Text 5"/>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6E6A62"/>
                </a:solidFill>
                <a:latin typeface="Noto Sans KR" pitchFamily="34" charset="0"/>
                <a:ea typeface="Noto Sans KR" pitchFamily="34" charset="-122"/>
                <a:cs typeface="Noto Sans KR" pitchFamily="34" charset="-120"/>
              </a:rPr>
              <a:t>답변자 전용 · 트랜스포머 예상질문 &amp; 모범답안</a:t>
            </a:r>
            <a:endParaRPr lang="en-US" sz="950" dirty="0"/>
          </a:p>
        </p:txBody>
      </p:sp>
      <p:sp>
        <p:nvSpPr>
          <p:cNvPr id="8" name="Text 6"/>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FF6B74"/>
                </a:solidFill>
                <a:latin typeface="Noto Sans KR" pitchFamily="34" charset="0"/>
                <a:ea typeface="Noto Sans KR" pitchFamily="34" charset="-122"/>
                <a:cs typeface="Noto Sans K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Q1 · 발표팀 준비 · PART 1</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RNN은 왜 느리고, 트랜스포머는 왜 빠른 거예요?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RNN은 사람이 글을 읽듯 단어를 하나씩 순서대로 처리해서, 세 번째 단어를 계산하려면 두 번째 단어의 계산이 끝나길 기다려야 해요 — 이게 ‘순차의 벽’입니다. 트랜스포머는 모든 단어를 GPU 위에 동시에 올려놓고 한 번에 바라보기 때문에 병렬 계산이 가능해요. 실제 원 논문도 GPU 8장으로 3.5일 학습해 당시 최고 성능을 냈습니다.</a:t>
            </a:r>
            <a:endParaRPr lang="en-US" sz="1600" dirty="0"/>
          </a:p>
        </p:txBody>
      </p:sp>
      <p:sp>
        <p:nvSpPr>
          <p:cNvPr id="8" name="Shape 6"/>
          <p:cNvSpPr/>
          <p:nvPr/>
        </p:nvSpPr>
        <p:spPr>
          <a:xfrm>
            <a:off x="566928" y="5394960"/>
            <a:ext cx="1719072"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719072"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순차 vs 병렬</a:t>
            </a:r>
            <a:endParaRPr lang="en-US" sz="1200" dirty="0"/>
          </a:p>
        </p:txBody>
      </p:sp>
      <p:sp>
        <p:nvSpPr>
          <p:cNvPr id="10" name="Shape 8"/>
          <p:cNvSpPr/>
          <p:nvPr/>
        </p:nvSpPr>
        <p:spPr>
          <a:xfrm>
            <a:off x="2505456" y="5394960"/>
            <a:ext cx="1874520"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505456" y="5394960"/>
            <a:ext cx="1874520"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GPU 동시 처리</a:t>
            </a:r>
            <a:endParaRPr lang="en-US" sz="1200" dirty="0"/>
          </a:p>
        </p:txBody>
      </p:sp>
      <p:sp>
        <p:nvSpPr>
          <p:cNvPr id="12" name="Text 10"/>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Q1</a:t>
            </a:r>
            <a:endParaRPr lang="en-US" sz="950" dirty="0"/>
          </a:p>
        </p:txBody>
      </p:sp>
      <p:sp>
        <p:nvSpPr>
          <p:cNvPr id="13" name="Text 11"/>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Q2 · 발표팀 준비 · PART 1</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RNN은 문장이 길어지면 왜 더 안 좋아져요?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RNN은 앞 단어의 정보를 계속 이어서 다음 단어로 넘겨주는 방식이라, 두 단어 사이의 거리가 멀어질수록 그 관계를 학습하기가 점점 더 어려워져요. 문장이 길어질수록 앞쪽 단어의 정보가 흐려지는 셈이라, 장문일수록 RNN의 약점이 두드러집니다.</a:t>
            </a:r>
            <a:endParaRPr lang="en-US" sz="1600" dirty="0"/>
          </a:p>
        </p:txBody>
      </p:sp>
      <p:sp>
        <p:nvSpPr>
          <p:cNvPr id="8" name="Shape 6"/>
          <p:cNvSpPr/>
          <p:nvPr/>
        </p:nvSpPr>
        <p:spPr>
          <a:xfrm>
            <a:off x="566928" y="5394960"/>
            <a:ext cx="1563624"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563624"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장거리 의존성</a:t>
            </a:r>
            <a:endParaRPr lang="en-US" sz="1200" dirty="0"/>
          </a:p>
        </p:txBody>
      </p:sp>
      <p:sp>
        <p:nvSpPr>
          <p:cNvPr id="10" name="Shape 8"/>
          <p:cNvSpPr/>
          <p:nvPr/>
        </p:nvSpPr>
        <p:spPr>
          <a:xfrm>
            <a:off x="2350008" y="5394960"/>
            <a:ext cx="1874520"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350008" y="5394960"/>
            <a:ext cx="1874520"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거리 멀수록 약함</a:t>
            </a:r>
            <a:endParaRPr lang="en-US" sz="1200" dirty="0"/>
          </a:p>
        </p:txBody>
      </p:sp>
      <p:sp>
        <p:nvSpPr>
          <p:cNvPr id="12" name="Text 10"/>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Q2</a:t>
            </a:r>
            <a:endParaRPr lang="en-US" sz="950" dirty="0"/>
          </a:p>
        </p:txBody>
      </p:sp>
      <p:sp>
        <p:nvSpPr>
          <p:cNvPr id="13" name="Text 11"/>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Q3 · 발표팀 준비 · PART 1</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Q, K, V가 정확히 뭔지 다시 설명해주실 수 있어요?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도서관에서 책 찾는 장면을 떠올리면 쉬워요. Query(Q)는 내가 들고 온 질문 카드, Key(K)는 책마다 붙은 색인표, Value(V)는 실제 책의 내용입니다. 내 질문(Q)을 서가의 모든 색인표(K)와 맞춰보고, 잘 맞는 책일수록 그 내용(V)을 많이 가져와 섞습니다.</a:t>
            </a:r>
            <a:endParaRPr lang="en-US" sz="1600" dirty="0"/>
          </a:p>
        </p:txBody>
      </p:sp>
      <p:sp>
        <p:nvSpPr>
          <p:cNvPr id="8" name="Shape 6"/>
          <p:cNvSpPr/>
          <p:nvPr/>
        </p:nvSpPr>
        <p:spPr>
          <a:xfrm>
            <a:off x="566928" y="5394960"/>
            <a:ext cx="2029968"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2029968"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Query=질문카드</a:t>
            </a:r>
            <a:endParaRPr lang="en-US" sz="1200" dirty="0"/>
          </a:p>
        </p:txBody>
      </p:sp>
      <p:sp>
        <p:nvSpPr>
          <p:cNvPr id="10" name="Shape 8"/>
          <p:cNvSpPr/>
          <p:nvPr/>
        </p:nvSpPr>
        <p:spPr>
          <a:xfrm>
            <a:off x="2816352" y="5394960"/>
            <a:ext cx="1563624"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816352" y="5394960"/>
            <a:ext cx="1563624"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Key=색인표</a:t>
            </a:r>
            <a:endParaRPr lang="en-US" sz="1200" dirty="0"/>
          </a:p>
        </p:txBody>
      </p:sp>
      <p:sp>
        <p:nvSpPr>
          <p:cNvPr id="12" name="Shape 10"/>
          <p:cNvSpPr/>
          <p:nvPr/>
        </p:nvSpPr>
        <p:spPr>
          <a:xfrm>
            <a:off x="4599432" y="5394960"/>
            <a:ext cx="1719072" cy="402336"/>
          </a:xfrm>
          <a:prstGeom prst="roundRect">
            <a:avLst>
              <a:gd name="adj" fmla="val 50000"/>
            </a:avLst>
          </a:prstGeom>
          <a:solidFill>
            <a:srgbClr val="FBE7E8"/>
          </a:solidFill>
          <a:ln w="9525">
            <a:solidFill>
              <a:srgbClr val="CE1225"/>
            </a:solidFill>
            <a:prstDash val="solid"/>
          </a:ln>
        </p:spPr>
      </p:sp>
      <p:sp>
        <p:nvSpPr>
          <p:cNvPr id="13" name="Text 11"/>
          <p:cNvSpPr/>
          <p:nvPr/>
        </p:nvSpPr>
        <p:spPr>
          <a:xfrm>
            <a:off x="4599432" y="5394960"/>
            <a:ext cx="1719072"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Value=내용</a:t>
            </a:r>
            <a:endParaRPr lang="en-US" sz="1200" dirty="0"/>
          </a:p>
        </p:txBody>
      </p:sp>
      <p:sp>
        <p:nvSpPr>
          <p:cNvPr id="14" name="Text 1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Q3</a:t>
            </a:r>
            <a:endParaRPr lang="en-US" sz="950" dirty="0"/>
          </a:p>
        </p:txBody>
      </p:sp>
      <p:sp>
        <p:nvSpPr>
          <p:cNvPr id="15" name="Text 1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Q4 · 발표팀 준비 · PART 2</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헤드를 왜 여러 개 쓰는 거예요? 하나로는 안 되나요?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하나의 attention만 쓰면 한 가지 관계(관점)만 포착하게 돼요. 여러 헤드를 병렬로 두면 주어-동사 관계, 예외 문구, 문체 단서 등 서로 다른 패턴을 동시에 볼 수 있습니다. 각 헤드가 역할을 깔끔히 나눠 갖는다고 단정할 순 없지만, 여러 관점으로 동시에 본다는 직관은 잘 들어맞아요.</a:t>
            </a:r>
            <a:endParaRPr lang="en-US" sz="1600" dirty="0"/>
          </a:p>
        </p:txBody>
      </p:sp>
      <p:sp>
        <p:nvSpPr>
          <p:cNvPr id="8" name="Shape 6"/>
          <p:cNvSpPr/>
          <p:nvPr/>
        </p:nvSpPr>
        <p:spPr>
          <a:xfrm>
            <a:off x="566928" y="5394960"/>
            <a:ext cx="1252728"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252728"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헤드=관점</a:t>
            </a:r>
            <a:endParaRPr lang="en-US" sz="1200" dirty="0"/>
          </a:p>
        </p:txBody>
      </p:sp>
      <p:sp>
        <p:nvSpPr>
          <p:cNvPr id="10" name="Shape 8"/>
          <p:cNvSpPr/>
          <p:nvPr/>
        </p:nvSpPr>
        <p:spPr>
          <a:xfrm>
            <a:off x="2039112" y="5394960"/>
            <a:ext cx="1719072"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039112" y="5394960"/>
            <a:ext cx="1719072"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병렬 다중 시선</a:t>
            </a:r>
            <a:endParaRPr lang="en-US" sz="1200" dirty="0"/>
          </a:p>
        </p:txBody>
      </p:sp>
      <p:sp>
        <p:nvSpPr>
          <p:cNvPr id="12" name="Text 10"/>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Q4</a:t>
            </a:r>
            <a:endParaRPr lang="en-US" sz="950" dirty="0"/>
          </a:p>
        </p:txBody>
      </p:sp>
      <p:sp>
        <p:nvSpPr>
          <p:cNvPr id="13" name="Text 11"/>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Q5 · 발표팀 준비 · PART 2</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인과 마스크(causal mask)는 왜 필요해요?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다음 단어를 생성할 때 아직 만들지 않은 미래 위치를 미리 참고해버리면 정답을 훔쳐보는 셈이라 학습이 무의미해져요. 그래서 causal mask로 미래 위치의 점수를 음의 무한대로 눌러 softmax에서 사실상 0으로 만들어, 현재 위치가 앞 단어와 자기 자신까지만 참고하게 강제합니다.</a:t>
            </a:r>
            <a:endParaRPr lang="en-US" sz="1600" dirty="0"/>
          </a:p>
        </p:txBody>
      </p:sp>
      <p:sp>
        <p:nvSpPr>
          <p:cNvPr id="8" name="Shape 6"/>
          <p:cNvSpPr/>
          <p:nvPr/>
        </p:nvSpPr>
        <p:spPr>
          <a:xfrm>
            <a:off x="566928" y="5394960"/>
            <a:ext cx="1252728"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252728"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미래 차단</a:t>
            </a:r>
            <a:endParaRPr lang="en-US" sz="1200" dirty="0"/>
          </a:p>
        </p:txBody>
      </p:sp>
      <p:sp>
        <p:nvSpPr>
          <p:cNvPr id="10" name="Shape 8"/>
          <p:cNvSpPr/>
          <p:nvPr/>
        </p:nvSpPr>
        <p:spPr>
          <a:xfrm>
            <a:off x="2039112" y="5394960"/>
            <a:ext cx="1408176"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039112" y="5394960"/>
            <a:ext cx="1408176"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디코더 전용</a:t>
            </a:r>
            <a:endParaRPr lang="en-US" sz="1200" dirty="0"/>
          </a:p>
        </p:txBody>
      </p:sp>
      <p:sp>
        <p:nvSpPr>
          <p:cNvPr id="12" name="Text 10"/>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Q5</a:t>
            </a:r>
            <a:endParaRPr lang="en-US" sz="950" dirty="0"/>
          </a:p>
        </p:txBody>
      </p:sp>
      <p:sp>
        <p:nvSpPr>
          <p:cNvPr id="13" name="Text 11"/>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Q6 · 발표팀 준비 · PART 3</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KV Cache가 정확히 뭐고, 왜 필요한 거예요?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ChatGPT 같은 AI는 답을 한 글자씩 만들어요. 매번 앞서 나온 단어들의 Key와 Value를 처음부터 다시 계산하면 컴퓨팅 낭비가 심하죠. 그래서 이미 계산한 K, V를 임시 저장소에 저장해두고 다음 글자를 만들 때 재사용하는데, 이 임시 보관함이 KV Cache입니다. 다만 문장이 길어질수록 보관함이 비대해져 메모리가 부담이에요.</a:t>
            </a:r>
            <a:endParaRPr lang="en-US" sz="1600" dirty="0"/>
          </a:p>
        </p:txBody>
      </p:sp>
      <p:sp>
        <p:nvSpPr>
          <p:cNvPr id="8" name="Shape 6"/>
          <p:cNvSpPr/>
          <p:nvPr/>
        </p:nvSpPr>
        <p:spPr>
          <a:xfrm>
            <a:off x="566928" y="5394960"/>
            <a:ext cx="1719072"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719072"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한 글자씩 생성</a:t>
            </a:r>
            <a:endParaRPr lang="en-US" sz="1200" dirty="0"/>
          </a:p>
        </p:txBody>
      </p:sp>
      <p:sp>
        <p:nvSpPr>
          <p:cNvPr id="10" name="Shape 8"/>
          <p:cNvSpPr/>
          <p:nvPr/>
        </p:nvSpPr>
        <p:spPr>
          <a:xfrm>
            <a:off x="2505456" y="5394960"/>
            <a:ext cx="1874520"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505456" y="5394960"/>
            <a:ext cx="1874520"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재계산 낭비 방지</a:t>
            </a:r>
            <a:endParaRPr lang="en-US" sz="1200" dirty="0"/>
          </a:p>
        </p:txBody>
      </p:sp>
      <p:sp>
        <p:nvSpPr>
          <p:cNvPr id="12" name="Text 10"/>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Q6</a:t>
            </a:r>
            <a:endParaRPr lang="en-US" sz="950" dirty="0"/>
          </a:p>
        </p:txBody>
      </p:sp>
      <p:sp>
        <p:nvSpPr>
          <p:cNvPr id="13" name="Text 11"/>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Q7 · 발표팀 준비 · PART 3</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MHA랑 GQA는 뭐가 다르고, 왜 최신 모델은 GQA를 써요?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MHA는 Query마다 Key·Value 헤드를 1:1로 따로 갖고 있어 메모리 부담이 매우 큽니다. GQA는 Query들을 그룹으로 묶어 소수의 K, V 헤드를 함께 쓰게 해요 — 메모리는 획기적으로 줄이면서 성능은 우수하게 유지하는 절충안입니다. MQA는 모든 Query가 K, V 헤드 1개만 공유하는 극단이라 메모리는 최소지만 시야가 좁아집니다.</a:t>
            </a:r>
            <a:endParaRPr lang="en-US" sz="1600" dirty="0"/>
          </a:p>
        </p:txBody>
      </p:sp>
      <p:sp>
        <p:nvSpPr>
          <p:cNvPr id="8" name="Shape 6"/>
          <p:cNvSpPr/>
          <p:nvPr/>
        </p:nvSpPr>
        <p:spPr>
          <a:xfrm>
            <a:off x="566928" y="5394960"/>
            <a:ext cx="1563624"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563624"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MHA=1:1</a:t>
            </a:r>
            <a:endParaRPr lang="en-US" sz="1200" dirty="0"/>
          </a:p>
        </p:txBody>
      </p:sp>
      <p:sp>
        <p:nvSpPr>
          <p:cNvPr id="10" name="Shape 8"/>
          <p:cNvSpPr/>
          <p:nvPr/>
        </p:nvSpPr>
        <p:spPr>
          <a:xfrm>
            <a:off x="2350008" y="5394960"/>
            <a:ext cx="1874520"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350008" y="5394960"/>
            <a:ext cx="1874520"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GQA=그룹 공유</a:t>
            </a:r>
            <a:endParaRPr lang="en-US" sz="1200" dirty="0"/>
          </a:p>
        </p:txBody>
      </p:sp>
      <p:sp>
        <p:nvSpPr>
          <p:cNvPr id="12" name="Shape 10"/>
          <p:cNvSpPr/>
          <p:nvPr/>
        </p:nvSpPr>
        <p:spPr>
          <a:xfrm>
            <a:off x="4443984" y="5394960"/>
            <a:ext cx="1874520" cy="402336"/>
          </a:xfrm>
          <a:prstGeom prst="roundRect">
            <a:avLst>
              <a:gd name="adj" fmla="val 50000"/>
            </a:avLst>
          </a:prstGeom>
          <a:solidFill>
            <a:srgbClr val="FBE7E8"/>
          </a:solidFill>
          <a:ln w="9525">
            <a:solidFill>
              <a:srgbClr val="CE1225"/>
            </a:solidFill>
            <a:prstDash val="solid"/>
          </a:ln>
        </p:spPr>
      </p:sp>
      <p:sp>
        <p:nvSpPr>
          <p:cNvPr id="13" name="Text 11"/>
          <p:cNvSpPr/>
          <p:nvPr/>
        </p:nvSpPr>
        <p:spPr>
          <a:xfrm>
            <a:off x="4443984" y="5394960"/>
            <a:ext cx="1874520"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메모리·성능 절충</a:t>
            </a:r>
            <a:endParaRPr lang="en-US" sz="1200" dirty="0"/>
          </a:p>
        </p:txBody>
      </p:sp>
      <p:sp>
        <p:nvSpPr>
          <p:cNvPr id="14" name="Text 1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Q7</a:t>
            </a:r>
            <a:endParaRPr lang="en-US" sz="950" dirty="0"/>
          </a:p>
        </p:txBody>
      </p:sp>
      <p:sp>
        <p:nvSpPr>
          <p:cNvPr id="15" name="Text 1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Q8 · 발표팀 준비 · PART 3</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RoPE는 뭐고, 그냥 위치 인코딩이랑은 뭐가 달라요?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트랜스포머는 원래 ‘학생이 선생님을 칭찬했다’와 ‘선생님이 학생을 칭찬했다’처럼 단어 순서를 구별하지 못해요. RoPE(Rotary Position Embedding)는 Llama 같은 최신 모델이 쓰는 방식인데, 단어의 의미 벡터를 위치 번호만큼 시계바늘 돌리듯 회전시켜, 두 단어가 몇 칸 떨어져 있는지를 상대적 각도 차이로 자연스럽게 계산하게 합니다.</a:t>
            </a:r>
            <a:endParaRPr lang="en-US" sz="1600" dirty="0"/>
          </a:p>
        </p:txBody>
      </p:sp>
      <p:sp>
        <p:nvSpPr>
          <p:cNvPr id="8" name="Shape 6"/>
          <p:cNvSpPr/>
          <p:nvPr/>
        </p:nvSpPr>
        <p:spPr>
          <a:xfrm>
            <a:off x="566928" y="5394960"/>
            <a:ext cx="1719072"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719072"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순서 구별 못함</a:t>
            </a:r>
            <a:endParaRPr lang="en-US" sz="1200" dirty="0"/>
          </a:p>
        </p:txBody>
      </p:sp>
      <p:sp>
        <p:nvSpPr>
          <p:cNvPr id="10" name="Shape 8"/>
          <p:cNvSpPr/>
          <p:nvPr/>
        </p:nvSpPr>
        <p:spPr>
          <a:xfrm>
            <a:off x="2505456" y="5394960"/>
            <a:ext cx="1408176"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505456" y="5394960"/>
            <a:ext cx="1408176"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벡터를 회전</a:t>
            </a:r>
            <a:endParaRPr lang="en-US" sz="1200" dirty="0"/>
          </a:p>
        </p:txBody>
      </p:sp>
      <p:sp>
        <p:nvSpPr>
          <p:cNvPr id="12" name="Shape 10"/>
          <p:cNvSpPr/>
          <p:nvPr/>
        </p:nvSpPr>
        <p:spPr>
          <a:xfrm>
            <a:off x="4133088" y="5394960"/>
            <a:ext cx="1408176" cy="402336"/>
          </a:xfrm>
          <a:prstGeom prst="roundRect">
            <a:avLst>
              <a:gd name="adj" fmla="val 50000"/>
            </a:avLst>
          </a:prstGeom>
          <a:solidFill>
            <a:srgbClr val="FBE7E8"/>
          </a:solidFill>
          <a:ln w="9525">
            <a:solidFill>
              <a:srgbClr val="CE1225"/>
            </a:solidFill>
            <a:prstDash val="solid"/>
          </a:ln>
        </p:spPr>
      </p:sp>
      <p:sp>
        <p:nvSpPr>
          <p:cNvPr id="13" name="Text 11"/>
          <p:cNvSpPr/>
          <p:nvPr/>
        </p:nvSpPr>
        <p:spPr>
          <a:xfrm>
            <a:off x="4133088" y="5394960"/>
            <a:ext cx="1408176"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상대적 위치</a:t>
            </a:r>
            <a:endParaRPr lang="en-US" sz="1200" dirty="0"/>
          </a:p>
        </p:txBody>
      </p:sp>
      <p:sp>
        <p:nvSpPr>
          <p:cNvPr id="14" name="Text 1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Q8</a:t>
            </a:r>
            <a:endParaRPr lang="en-US" sz="950" dirty="0"/>
          </a:p>
        </p:txBody>
      </p:sp>
      <p:sp>
        <p:nvSpPr>
          <p:cNvPr id="15" name="Text 1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Q9 · 발표팀 준비 · PART 3</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트랜스포머가 이미지에도 쓰인다는 게 무슨 말이에요? ViT?</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과거엔 이미지엔 CNN, 언어엔 RNN을 따로 썼어요. 연구자들이 ‘어텐션이 꼭 단어에만 쓸 필요가 있나?’라고 물었고, 이미지를 16×16 조각(패치)으로 잘라 그 조각들을 단어처럼 트랜스포머에 밀어 넣은 게 ViT(Vision Transformer)입니다. 그 결과 수십 년간 비전을 지배하던 CNN을 뛰어넘었어요.</a:t>
            </a:r>
            <a:endParaRPr lang="en-US" sz="1600" dirty="0"/>
          </a:p>
        </p:txBody>
      </p:sp>
      <p:sp>
        <p:nvSpPr>
          <p:cNvPr id="8" name="Shape 6"/>
          <p:cNvSpPr/>
          <p:nvPr/>
        </p:nvSpPr>
        <p:spPr>
          <a:xfrm>
            <a:off x="566928" y="5394960"/>
            <a:ext cx="1408176"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408176"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패치로 자름</a:t>
            </a:r>
            <a:endParaRPr lang="en-US" sz="1200" dirty="0"/>
          </a:p>
        </p:txBody>
      </p:sp>
      <p:sp>
        <p:nvSpPr>
          <p:cNvPr id="10" name="Shape 8"/>
          <p:cNvSpPr/>
          <p:nvPr/>
        </p:nvSpPr>
        <p:spPr>
          <a:xfrm>
            <a:off x="2194560" y="5394960"/>
            <a:ext cx="1252728"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194560" y="5394960"/>
            <a:ext cx="1252728"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패치=단어</a:t>
            </a:r>
            <a:endParaRPr lang="en-US" sz="1200" dirty="0"/>
          </a:p>
        </p:txBody>
      </p:sp>
      <p:sp>
        <p:nvSpPr>
          <p:cNvPr id="12" name="Shape 10"/>
          <p:cNvSpPr/>
          <p:nvPr/>
        </p:nvSpPr>
        <p:spPr>
          <a:xfrm>
            <a:off x="3666744" y="5394960"/>
            <a:ext cx="1719072" cy="402336"/>
          </a:xfrm>
          <a:prstGeom prst="roundRect">
            <a:avLst>
              <a:gd name="adj" fmla="val 50000"/>
            </a:avLst>
          </a:prstGeom>
          <a:solidFill>
            <a:srgbClr val="FBE7E8"/>
          </a:solidFill>
          <a:ln w="9525">
            <a:solidFill>
              <a:srgbClr val="CE1225"/>
            </a:solidFill>
            <a:prstDash val="solid"/>
          </a:ln>
        </p:spPr>
      </p:sp>
      <p:sp>
        <p:nvSpPr>
          <p:cNvPr id="13" name="Text 11"/>
          <p:cNvSpPr/>
          <p:nvPr/>
        </p:nvSpPr>
        <p:spPr>
          <a:xfrm>
            <a:off x="3666744" y="5394960"/>
            <a:ext cx="1719072"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CNN을 넘어섬</a:t>
            </a:r>
            <a:endParaRPr lang="en-US" sz="1200" dirty="0"/>
          </a:p>
        </p:txBody>
      </p:sp>
      <p:sp>
        <p:nvSpPr>
          <p:cNvPr id="14" name="Text 1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Q9</a:t>
            </a:r>
            <a:endParaRPr lang="en-US" sz="950" dirty="0"/>
          </a:p>
        </p:txBody>
      </p:sp>
      <p:sp>
        <p:nvSpPr>
          <p:cNvPr id="15" name="Text 1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Q10 · 발표팀 준비 · 종합 정리</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트랜스포머를 한마디로 정의하면? 그냥 언어모델 아니에요?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아니요, 언어모델에서 끝나지 않았어요. 음성인식(Whisper), 이미지 생성(DiT), 심지어 단백질 구조 예측(AlphaFold)까지 전부 트랜스포머라는 하나의 공통 열쇠로 통일됐습니다. 트랜스포머는 세상의 모든 데이터를 조각(토큰)으로 나누어 서로의 관계를 계산해내는, AI 시대의 표준 엔진이라 정의할 수 있어요.</a:t>
            </a:r>
            <a:endParaRPr lang="en-US" sz="1600" dirty="0"/>
          </a:p>
        </p:txBody>
      </p:sp>
      <p:sp>
        <p:nvSpPr>
          <p:cNvPr id="8" name="Shape 6"/>
          <p:cNvSpPr/>
          <p:nvPr/>
        </p:nvSpPr>
        <p:spPr>
          <a:xfrm>
            <a:off x="566928" y="5394960"/>
            <a:ext cx="1874520"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874520"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언어모델 그 이상</a:t>
            </a:r>
            <a:endParaRPr lang="en-US" sz="1200" dirty="0"/>
          </a:p>
        </p:txBody>
      </p:sp>
      <p:sp>
        <p:nvSpPr>
          <p:cNvPr id="10" name="Shape 8"/>
          <p:cNvSpPr/>
          <p:nvPr/>
        </p:nvSpPr>
        <p:spPr>
          <a:xfrm>
            <a:off x="2660904" y="5394960"/>
            <a:ext cx="3739896"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660904" y="5394960"/>
            <a:ext cx="3739896"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Whisper·DiT·AlphaFold</a:t>
            </a:r>
            <a:endParaRPr lang="en-US" sz="1200" dirty="0"/>
          </a:p>
        </p:txBody>
      </p:sp>
      <p:sp>
        <p:nvSpPr>
          <p:cNvPr id="12" name="Shape 10"/>
          <p:cNvSpPr/>
          <p:nvPr/>
        </p:nvSpPr>
        <p:spPr>
          <a:xfrm>
            <a:off x="6620256" y="5394960"/>
            <a:ext cx="1252728" cy="402336"/>
          </a:xfrm>
          <a:prstGeom prst="roundRect">
            <a:avLst>
              <a:gd name="adj" fmla="val 50000"/>
            </a:avLst>
          </a:prstGeom>
          <a:solidFill>
            <a:srgbClr val="FBE7E8"/>
          </a:solidFill>
          <a:ln w="9525">
            <a:solidFill>
              <a:srgbClr val="CE1225"/>
            </a:solidFill>
            <a:prstDash val="solid"/>
          </a:ln>
        </p:spPr>
      </p:sp>
      <p:sp>
        <p:nvSpPr>
          <p:cNvPr id="13" name="Text 11"/>
          <p:cNvSpPr/>
          <p:nvPr/>
        </p:nvSpPr>
        <p:spPr>
          <a:xfrm>
            <a:off x="6620256" y="5394960"/>
            <a:ext cx="1252728"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표준 엔진</a:t>
            </a:r>
            <a:endParaRPr lang="en-US" sz="1200" dirty="0"/>
          </a:p>
        </p:txBody>
      </p:sp>
      <p:sp>
        <p:nvSpPr>
          <p:cNvPr id="14" name="Text 1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Q10</a:t>
            </a:r>
            <a:endParaRPr lang="en-US" sz="950" dirty="0"/>
          </a:p>
        </p:txBody>
      </p:sp>
      <p:sp>
        <p:nvSpPr>
          <p:cNvPr id="15" name="Text 1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1813"/>
        </a:solidFill>
      </p:bgPr>
    </p:bg>
    <p:spTree>
      <p:nvGrpSpPr>
        <p:cNvPr id="1" name=""/>
        <p:cNvGrpSpPr/>
        <p:nvPr/>
      </p:nvGrpSpPr>
      <p:grpSpPr>
        <a:xfrm>
          <a:off x="0" y="0"/>
          <a:ext cx="0" cy="0"/>
          <a:chOff x="0" y="0"/>
          <a:chExt cx="0" cy="0"/>
        </a:xfrm>
      </p:grpSpPr>
      <p:sp>
        <p:nvSpPr>
          <p:cNvPr id="2" name="Text 0"/>
          <p:cNvSpPr/>
          <p:nvPr/>
        </p:nvSpPr>
        <p:spPr>
          <a:xfrm>
            <a:off x="6035040" y="365760"/>
            <a:ext cx="5852160" cy="5486400"/>
          </a:xfrm>
          <a:prstGeom prst="rect">
            <a:avLst/>
          </a:prstGeom>
          <a:noFill/>
          <a:ln/>
        </p:spPr>
        <p:txBody>
          <a:bodyPr wrap="square" rtlCol="0" anchor="t"/>
          <a:lstStyle/>
          <a:p>
            <a:pPr algn="r" indent="0" marL="0">
              <a:buNone/>
            </a:pPr>
            <a:r>
              <a:rPr lang="en-US" sz="20000" b="1" dirty="0">
                <a:solidFill>
                  <a:srgbClr val="221E1A"/>
                </a:solidFill>
                <a:latin typeface="Noto Sans KR" pitchFamily="34" charset="0"/>
                <a:ea typeface="Noto Sans KR" pitchFamily="34" charset="-122"/>
                <a:cs typeface="Noto Sans KR" pitchFamily="34" charset="-120"/>
              </a:rPr>
              <a:t>Q&amp;A</a:t>
            </a:r>
            <a:endParaRPr lang="en-US" sz="20000" dirty="0"/>
          </a:p>
        </p:txBody>
      </p:sp>
      <p:sp>
        <p:nvSpPr>
          <p:cNvPr id="3" name="Shape 1"/>
          <p:cNvSpPr/>
          <p:nvPr/>
        </p:nvSpPr>
        <p:spPr>
          <a:xfrm>
            <a:off x="566928" y="548640"/>
            <a:ext cx="118872" cy="118872"/>
          </a:xfrm>
          <a:prstGeom prst="rect">
            <a:avLst/>
          </a:prstGeom>
          <a:solidFill>
            <a:srgbClr val="FF6B74"/>
          </a:solidFill>
          <a:ln/>
        </p:spPr>
      </p:sp>
      <p:sp>
        <p:nvSpPr>
          <p:cNvPr id="4" name="Text 2"/>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FF6B74"/>
                </a:solidFill>
                <a:latin typeface="Noto Sans KR" pitchFamily="34" charset="0"/>
                <a:ea typeface="Noto Sans KR" pitchFamily="34" charset="-122"/>
                <a:cs typeface="Noto Sans KR" pitchFamily="34" charset="-120"/>
              </a:rPr>
              <a:t>예상질문 · Q&amp;A</a:t>
            </a:r>
            <a:endParaRPr lang="en-US" sz="1150" dirty="0"/>
          </a:p>
        </p:txBody>
      </p:sp>
      <p:sp>
        <p:nvSpPr>
          <p:cNvPr id="5" name="Text 3"/>
          <p:cNvSpPr/>
          <p:nvPr/>
        </p:nvSpPr>
        <p:spPr>
          <a:xfrm>
            <a:off x="566928" y="2331720"/>
            <a:ext cx="8229600" cy="1188720"/>
          </a:xfrm>
          <a:prstGeom prst="rect">
            <a:avLst/>
          </a:prstGeom>
          <a:noFill/>
          <a:ln/>
        </p:spPr>
        <p:txBody>
          <a:bodyPr wrap="square" rtlCol="0" anchor="t"/>
          <a:lstStyle/>
          <a:p>
            <a:pPr indent="0" marL="0">
              <a:lnSpc>
                <a:spcPts val="4200"/>
              </a:lnSpc>
              <a:buNone/>
            </a:pPr>
            <a:r>
              <a:rPr lang="en-US" sz="3600" b="1" dirty="0">
                <a:solidFill>
                  <a:srgbClr val="FFFFFF"/>
                </a:solidFill>
                <a:latin typeface="Noto Sans KR" pitchFamily="34" charset="0"/>
                <a:ea typeface="Noto Sans KR" pitchFamily="34" charset="-122"/>
                <a:cs typeface="Noto Sans KR" pitchFamily="34" charset="-120"/>
              </a:rPr>
              <a:t>Q11–Q20 · 보충 심화</a:t>
            </a:r>
            <a:endParaRPr lang="en-US" sz="3600" dirty="0"/>
          </a:p>
        </p:txBody>
      </p:sp>
      <p:sp>
        <p:nvSpPr>
          <p:cNvPr id="6" name="Text 4"/>
          <p:cNvSpPr/>
          <p:nvPr/>
        </p:nvSpPr>
        <p:spPr>
          <a:xfrm>
            <a:off x="566928" y="3794760"/>
            <a:ext cx="7772400" cy="1554480"/>
          </a:xfrm>
          <a:prstGeom prst="rect">
            <a:avLst/>
          </a:prstGeom>
          <a:noFill/>
          <a:ln/>
        </p:spPr>
        <p:txBody>
          <a:bodyPr wrap="square" rtlCol="0" anchor="t"/>
          <a:lstStyle/>
          <a:p>
            <a:pPr indent="0" marL="0">
              <a:lnSpc>
                <a:spcPts val="2400"/>
              </a:lnSpc>
              <a:buNone/>
            </a:pPr>
            <a:r>
              <a:rPr lang="en-US" sz="1600" dirty="0">
                <a:solidFill>
                  <a:srgbClr val="C9C3B8"/>
                </a:solidFill>
                <a:latin typeface="Noto Sans KR" pitchFamily="34" charset="0"/>
                <a:ea typeface="Noto Sans KR" pitchFamily="34" charset="-122"/>
                <a:cs typeface="Noto Sans KR" pitchFamily="34" charset="-120"/>
              </a:rPr>
              <a:t>발표팀 Q&amp;A와 겹치지 않게, 수식·구조·명칭 디테일과 인코더/디코더·BERT·GPT 구분까지 더 깊이 들어가는 질문들.</a:t>
            </a:r>
            <a:endParaRPr lang="en-US" sz="1600" dirty="0"/>
          </a:p>
        </p:txBody>
      </p:sp>
      <p:sp>
        <p:nvSpPr>
          <p:cNvPr id="7" name="Text 5"/>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6E6A62"/>
                </a:solidFill>
                <a:latin typeface="Noto Sans KR" pitchFamily="34" charset="0"/>
                <a:ea typeface="Noto Sans KR" pitchFamily="34" charset="-122"/>
                <a:cs typeface="Noto Sans KR" pitchFamily="34" charset="-120"/>
              </a:rPr>
              <a:t>답변자 전용 · 트랜스포머 예상질문 &amp; 모범답안</a:t>
            </a:r>
            <a:endParaRPr lang="en-US" sz="950" dirty="0"/>
          </a:p>
        </p:txBody>
      </p:sp>
      <p:sp>
        <p:nvSpPr>
          <p:cNvPr id="8" name="Text 6"/>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FF6B74"/>
                </a:solidFill>
                <a:latin typeface="Noto Sans KR" pitchFamily="34" charset="0"/>
                <a:ea typeface="Noto Sans KR" pitchFamily="34" charset="-122"/>
                <a:cs typeface="Noto Sans K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Q11 · 보충 심화 · PART 2</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softmax(QKᵀ/√dₖ)V 수식을 한 단계씩 풀어주실 수 있나요?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먼저 QKᵀ으로 모든 Q와 모든 K를 하나씩 맞대 ‘점수표’를 만듭니다. 그 점수를 softmax에 통과시켜 합이 1이 되는 참고 비율로 바꾸고, 마지막으로 그 비율만큼 V를 섞어 문맥이 반영된 새 표현을 만듭니다. 이 세 단계가 곧 어텐션 전체입니다.</a:t>
            </a:r>
            <a:endParaRPr lang="en-US" sz="1600" dirty="0"/>
          </a:p>
        </p:txBody>
      </p:sp>
      <p:sp>
        <p:nvSpPr>
          <p:cNvPr id="8" name="Shape 6"/>
          <p:cNvSpPr/>
          <p:nvPr/>
        </p:nvSpPr>
        <p:spPr>
          <a:xfrm>
            <a:off x="566928" y="5394960"/>
            <a:ext cx="1874520"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874520"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① QKᵀ=점수표</a:t>
            </a:r>
            <a:endParaRPr lang="en-US" sz="1200" dirty="0"/>
          </a:p>
        </p:txBody>
      </p:sp>
      <p:sp>
        <p:nvSpPr>
          <p:cNvPr id="10" name="Shape 8"/>
          <p:cNvSpPr/>
          <p:nvPr/>
        </p:nvSpPr>
        <p:spPr>
          <a:xfrm>
            <a:off x="2660904" y="5394960"/>
            <a:ext cx="2496312"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660904" y="5394960"/>
            <a:ext cx="2496312"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② softmax=비율화</a:t>
            </a:r>
            <a:endParaRPr lang="en-US" sz="1200" dirty="0"/>
          </a:p>
        </p:txBody>
      </p:sp>
      <p:sp>
        <p:nvSpPr>
          <p:cNvPr id="12" name="Shape 10"/>
          <p:cNvSpPr/>
          <p:nvPr/>
        </p:nvSpPr>
        <p:spPr>
          <a:xfrm>
            <a:off x="5376672" y="5394960"/>
            <a:ext cx="1719072" cy="402336"/>
          </a:xfrm>
          <a:prstGeom prst="roundRect">
            <a:avLst>
              <a:gd name="adj" fmla="val 50000"/>
            </a:avLst>
          </a:prstGeom>
          <a:solidFill>
            <a:srgbClr val="FBE7E8"/>
          </a:solidFill>
          <a:ln w="9525">
            <a:solidFill>
              <a:srgbClr val="CE1225"/>
            </a:solidFill>
            <a:prstDash val="solid"/>
          </a:ln>
        </p:spPr>
      </p:sp>
      <p:sp>
        <p:nvSpPr>
          <p:cNvPr id="13" name="Text 11"/>
          <p:cNvSpPr/>
          <p:nvPr/>
        </p:nvSpPr>
        <p:spPr>
          <a:xfrm>
            <a:off x="5376672" y="5394960"/>
            <a:ext cx="1719072"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③ ×V=가중합</a:t>
            </a:r>
            <a:endParaRPr lang="en-US" sz="1200" dirty="0"/>
          </a:p>
        </p:txBody>
      </p:sp>
      <p:sp>
        <p:nvSpPr>
          <p:cNvPr id="14" name="Text 1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Q11</a:t>
            </a:r>
            <a:endParaRPr lang="en-US" sz="950" dirty="0"/>
          </a:p>
        </p:txBody>
      </p:sp>
      <p:sp>
        <p:nvSpPr>
          <p:cNvPr id="15" name="Text 1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Q12 · 보충 심화 · PART 2</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왜 굳이 √dₖ로 나누나요? 안 나누면 무슨 문제가 생기나요?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벡터 길이(dₖ)가 길어질수록 QKᵀ 점수의 분산이 커져 값이 위아래로 크게 벌어집니다. 이 상태로 softmax에 넣으면 한쪽으로 극단적으로 뾰족해져 학습 신호(gradient)가 거의 끊깁니다. √dₖ로 나누면 벡터 길이가 얼마든 점수 분포를 일정하게 눌러줘 학습이 안정됩니다.</a:t>
            </a:r>
            <a:endParaRPr lang="en-US" sz="1600" dirty="0"/>
          </a:p>
        </p:txBody>
      </p:sp>
      <p:sp>
        <p:nvSpPr>
          <p:cNvPr id="8" name="Shape 6"/>
          <p:cNvSpPr/>
          <p:nvPr/>
        </p:nvSpPr>
        <p:spPr>
          <a:xfrm>
            <a:off x="566928" y="5394960"/>
            <a:ext cx="1719072"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719072"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분산 폭주 방지</a:t>
            </a:r>
            <a:endParaRPr lang="en-US" sz="1200" dirty="0"/>
          </a:p>
        </p:txBody>
      </p:sp>
      <p:sp>
        <p:nvSpPr>
          <p:cNvPr id="10" name="Shape 8"/>
          <p:cNvSpPr/>
          <p:nvPr/>
        </p:nvSpPr>
        <p:spPr>
          <a:xfrm>
            <a:off x="2505456" y="5394960"/>
            <a:ext cx="2496312"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505456" y="5394960"/>
            <a:ext cx="2496312"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softmax 포화 방지</a:t>
            </a:r>
            <a:endParaRPr lang="en-US" sz="1200" dirty="0"/>
          </a:p>
        </p:txBody>
      </p:sp>
      <p:sp>
        <p:nvSpPr>
          <p:cNvPr id="12" name="Shape 10"/>
          <p:cNvSpPr/>
          <p:nvPr/>
        </p:nvSpPr>
        <p:spPr>
          <a:xfrm>
            <a:off x="5221224" y="5394960"/>
            <a:ext cx="1408176" cy="402336"/>
          </a:xfrm>
          <a:prstGeom prst="roundRect">
            <a:avLst>
              <a:gd name="adj" fmla="val 50000"/>
            </a:avLst>
          </a:prstGeom>
          <a:solidFill>
            <a:srgbClr val="FBE7E8"/>
          </a:solidFill>
          <a:ln w="9525">
            <a:solidFill>
              <a:srgbClr val="CE1225"/>
            </a:solidFill>
            <a:prstDash val="solid"/>
          </a:ln>
        </p:spPr>
      </p:sp>
      <p:sp>
        <p:nvSpPr>
          <p:cNvPr id="13" name="Text 11"/>
          <p:cNvSpPr/>
          <p:nvPr/>
        </p:nvSpPr>
        <p:spPr>
          <a:xfrm>
            <a:off x="5221224" y="5394960"/>
            <a:ext cx="1408176"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학습 안정화</a:t>
            </a:r>
            <a:endParaRPr lang="en-US" sz="1200" dirty="0"/>
          </a:p>
        </p:txBody>
      </p:sp>
      <p:sp>
        <p:nvSpPr>
          <p:cNvPr id="14" name="Text 1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Q12</a:t>
            </a:r>
            <a:endParaRPr lang="en-US" sz="950" dirty="0"/>
          </a:p>
        </p:txBody>
      </p:sp>
      <p:sp>
        <p:nvSpPr>
          <p:cNvPr id="15" name="Text 1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Q13 · 보충 심화 · PART 2</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Q, K, V는 토큰 임베딩을 그대로 쓰는 게 아니라던데, 어떻게 만들어지나요?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토큰 표현 X에 학습되는 가중치 행렬 W_Q, W_K, W_V를 각각 곱해서 만듭니다(Q=XW_Q 등). 같은 입력에서 ‘질문’, ‘색인’, ‘내용’이라는 서로 다른 정보를 뽑아내는 세 개의 렌즈라고 보면 됩니다. 이 행렬들도 모델 학습을 통해 값이 정해집니다.</a:t>
            </a:r>
            <a:endParaRPr lang="en-US" sz="1600" dirty="0"/>
          </a:p>
        </p:txBody>
      </p:sp>
      <p:sp>
        <p:nvSpPr>
          <p:cNvPr id="8" name="Shape 6"/>
          <p:cNvSpPr/>
          <p:nvPr/>
        </p:nvSpPr>
        <p:spPr>
          <a:xfrm>
            <a:off x="566928" y="5394960"/>
            <a:ext cx="2340864"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2340864"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같은 입력, 다른 렌즈</a:t>
            </a:r>
            <a:endParaRPr lang="en-US" sz="1200" dirty="0"/>
          </a:p>
        </p:txBody>
      </p:sp>
      <p:sp>
        <p:nvSpPr>
          <p:cNvPr id="10" name="Shape 8"/>
          <p:cNvSpPr/>
          <p:nvPr/>
        </p:nvSpPr>
        <p:spPr>
          <a:xfrm>
            <a:off x="3127248" y="5394960"/>
            <a:ext cx="2185416"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3127248" y="5394960"/>
            <a:ext cx="2185416"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학습되는 가중치 행렬</a:t>
            </a:r>
            <a:endParaRPr lang="en-US" sz="1200" dirty="0"/>
          </a:p>
        </p:txBody>
      </p:sp>
      <p:sp>
        <p:nvSpPr>
          <p:cNvPr id="12" name="Text 10"/>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Q13</a:t>
            </a:r>
            <a:endParaRPr lang="en-US" sz="950" dirty="0"/>
          </a:p>
        </p:txBody>
      </p:sp>
      <p:sp>
        <p:nvSpPr>
          <p:cNvPr id="13" name="Text 11"/>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Q14 · 보충 심화 · PART 2</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멀티헤드에서 헤드마다 따로 계산한 결과는 최종적으로 어떻게 합쳐지나요?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각 헤드가 독립적으로 만든 결과들을 옆으로 나란히 이어붙이는 concat을 한 뒤, 다시 한 번 학습된 선형변환을 거쳐 원래 모델 차원으로 맞춥니다. 여러 관점의 정보가 이 마지막 단계에서 하나의 표현으로 압축됩니다.</a:t>
            </a:r>
            <a:endParaRPr lang="en-US" sz="1600" dirty="0"/>
          </a:p>
        </p:txBody>
      </p:sp>
      <p:sp>
        <p:nvSpPr>
          <p:cNvPr id="8" name="Shape 6"/>
          <p:cNvSpPr/>
          <p:nvPr/>
        </p:nvSpPr>
        <p:spPr>
          <a:xfrm>
            <a:off x="566928" y="5394960"/>
            <a:ext cx="2340864"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2340864"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Concat=이어붙이기</a:t>
            </a:r>
            <a:endParaRPr lang="en-US" sz="1200" dirty="0"/>
          </a:p>
        </p:txBody>
      </p:sp>
      <p:sp>
        <p:nvSpPr>
          <p:cNvPr id="10" name="Shape 8"/>
          <p:cNvSpPr/>
          <p:nvPr/>
        </p:nvSpPr>
        <p:spPr>
          <a:xfrm>
            <a:off x="3127248" y="5394960"/>
            <a:ext cx="2340864"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3127248" y="5394960"/>
            <a:ext cx="2340864"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선형변환으로 차원 복구</a:t>
            </a:r>
            <a:endParaRPr lang="en-US" sz="1200" dirty="0"/>
          </a:p>
        </p:txBody>
      </p:sp>
      <p:sp>
        <p:nvSpPr>
          <p:cNvPr id="12" name="Text 10"/>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Q14</a:t>
            </a:r>
            <a:endParaRPr lang="en-US" sz="950" dirty="0"/>
          </a:p>
        </p:txBody>
      </p:sp>
      <p:sp>
        <p:nvSpPr>
          <p:cNvPr id="13" name="Text 11"/>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Q15 · 보충 심화 · PART 2</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셀프 어텐션(self-attention)이라는 이름은 왜 붙었나요?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Query, Key, Value가 모두 같은 문장(같은 시퀀스)에서 나오기 때문입니다. 문장이 자기 자신을 참고해 각 토큰의 의미를 다시 계산하는 것이라 ‘셀프’라는 이름이 붙었습니다. 참고로 번역처럼 디코더가 인코더 출력을 참고할 땐 Q는 디코더, K·V는 인코더에서 오는 cross-attention도 있습니다.</a:t>
            </a:r>
            <a:endParaRPr lang="en-US" sz="1600" dirty="0"/>
          </a:p>
        </p:txBody>
      </p:sp>
      <p:sp>
        <p:nvSpPr>
          <p:cNvPr id="8" name="Shape 6"/>
          <p:cNvSpPr/>
          <p:nvPr/>
        </p:nvSpPr>
        <p:spPr>
          <a:xfrm>
            <a:off x="566928" y="5394960"/>
            <a:ext cx="2340864"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2340864"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Q·K·V가 같은 문장</a:t>
            </a:r>
            <a:endParaRPr lang="en-US" sz="1200" dirty="0"/>
          </a:p>
        </p:txBody>
      </p:sp>
      <p:sp>
        <p:nvSpPr>
          <p:cNvPr id="10" name="Shape 8"/>
          <p:cNvSpPr/>
          <p:nvPr/>
        </p:nvSpPr>
        <p:spPr>
          <a:xfrm>
            <a:off x="3127248" y="5394960"/>
            <a:ext cx="3429000"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3127248" y="5394960"/>
            <a:ext cx="3429000"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cross-attention과 대조</a:t>
            </a:r>
            <a:endParaRPr lang="en-US" sz="1200" dirty="0"/>
          </a:p>
        </p:txBody>
      </p:sp>
      <p:sp>
        <p:nvSpPr>
          <p:cNvPr id="12" name="Text 10"/>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Q15</a:t>
            </a:r>
            <a:endParaRPr lang="en-US" sz="950" dirty="0"/>
          </a:p>
        </p:txBody>
      </p:sp>
      <p:sp>
        <p:nvSpPr>
          <p:cNvPr id="13" name="Text 11"/>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Q16 · 보충 심화 · PART 2</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어텐션이 계산해내는 게 정확히 ‘다음 단어가 나올 확률’인가요?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아닙니다. 어텐션이 내놓는 것은 문맥이 반영된 ‘표현의 갱신’일 뿐, 다음 토큰의 확률이 아닙니다. 이 갱신된 표현을 받아서 맨 끝의 출력층(다른 레이어)이 비로소 다음 토큰의 확률을 계산합니다. 어텐션과 최종 예측은 서로 다른 단계입니다.</a:t>
            </a:r>
            <a:endParaRPr lang="en-US" sz="1600" dirty="0"/>
          </a:p>
        </p:txBody>
      </p:sp>
      <p:sp>
        <p:nvSpPr>
          <p:cNvPr id="8" name="Shape 6"/>
          <p:cNvSpPr/>
          <p:nvPr/>
        </p:nvSpPr>
        <p:spPr>
          <a:xfrm>
            <a:off x="566928" y="5394960"/>
            <a:ext cx="1874520"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874520"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어텐션=표현 갱신</a:t>
            </a:r>
            <a:endParaRPr lang="en-US" sz="1200" dirty="0"/>
          </a:p>
        </p:txBody>
      </p:sp>
      <p:sp>
        <p:nvSpPr>
          <p:cNvPr id="10" name="Shape 8"/>
          <p:cNvSpPr/>
          <p:nvPr/>
        </p:nvSpPr>
        <p:spPr>
          <a:xfrm>
            <a:off x="2660904" y="5394960"/>
            <a:ext cx="1874520"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660904" y="5394960"/>
            <a:ext cx="1874520"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확률은 출력층 몫</a:t>
            </a:r>
            <a:endParaRPr lang="en-US" sz="1200" dirty="0"/>
          </a:p>
        </p:txBody>
      </p:sp>
      <p:sp>
        <p:nvSpPr>
          <p:cNvPr id="12" name="Text 10"/>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Q16</a:t>
            </a:r>
            <a:endParaRPr lang="en-US" sz="950" dirty="0"/>
          </a:p>
        </p:txBody>
      </p:sp>
      <p:sp>
        <p:nvSpPr>
          <p:cNvPr id="13" name="Text 11"/>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Q17 · 보충 심화 · PART 2</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트랜스포머의 인코더와 디코더는 각각 무슨 일을 하나요?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인코더는 입력 문장 전체를 양방향으로(앞뒤를 다 보면서) 읽어 문맥을 파악합니다. 디코더는 causal mask를 쓰며 한 토큰씩 순서대로 답을 생성합니다. 번역처럼 ‘이해 후 생성’이 필요한 작업은 둘 다 쓰고, 목적에 따라 한쪽만 쓰기도 합니다.</a:t>
            </a:r>
            <a:endParaRPr lang="en-US" sz="1600" dirty="0"/>
          </a:p>
        </p:txBody>
      </p:sp>
      <p:sp>
        <p:nvSpPr>
          <p:cNvPr id="8" name="Shape 6"/>
          <p:cNvSpPr/>
          <p:nvPr/>
        </p:nvSpPr>
        <p:spPr>
          <a:xfrm>
            <a:off x="566928" y="5394960"/>
            <a:ext cx="2029968"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2029968"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인코더=양방향 이해</a:t>
            </a:r>
            <a:endParaRPr lang="en-US" sz="1200" dirty="0"/>
          </a:p>
        </p:txBody>
      </p:sp>
      <p:sp>
        <p:nvSpPr>
          <p:cNvPr id="10" name="Shape 8"/>
          <p:cNvSpPr/>
          <p:nvPr/>
        </p:nvSpPr>
        <p:spPr>
          <a:xfrm>
            <a:off x="2816352" y="5394960"/>
            <a:ext cx="1874520"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816352" y="5394960"/>
            <a:ext cx="1874520"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디코더=순차 생성</a:t>
            </a:r>
            <a:endParaRPr lang="en-US" sz="1200" dirty="0"/>
          </a:p>
        </p:txBody>
      </p:sp>
      <p:sp>
        <p:nvSpPr>
          <p:cNvPr id="12" name="Text 10"/>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Q17</a:t>
            </a:r>
            <a:endParaRPr lang="en-US" sz="950" dirty="0"/>
          </a:p>
        </p:txBody>
      </p:sp>
      <p:sp>
        <p:nvSpPr>
          <p:cNvPr id="13" name="Text 11"/>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Q18 · 보충 심화 · 종합 정리</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그러면 BERT랑 GPT는 트랜스포머의 어느 부분을 쓰는 건가요?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BERT는 인코더만 쌓아 만든 모델로, 문장을 양방향으로 깊이 이해하는 데 특화되어 검색·분류에 강합니다. GPT는 디코더만 쌓아 만든 모델로, causal mask 구조 덕분에 다음 토큰을 순서대로 이어 쓰는 생성에 특화됩니다. 같은 재료(트랜스포머)를 다르게 쌓은 결과입니다.</a:t>
            </a:r>
            <a:endParaRPr lang="en-US" sz="1600" dirty="0"/>
          </a:p>
        </p:txBody>
      </p:sp>
      <p:sp>
        <p:nvSpPr>
          <p:cNvPr id="8" name="Shape 6"/>
          <p:cNvSpPr/>
          <p:nvPr/>
        </p:nvSpPr>
        <p:spPr>
          <a:xfrm>
            <a:off x="566928" y="5394960"/>
            <a:ext cx="1874520"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874520"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BERT=인코더만</a:t>
            </a:r>
            <a:endParaRPr lang="en-US" sz="1200" dirty="0"/>
          </a:p>
        </p:txBody>
      </p:sp>
      <p:sp>
        <p:nvSpPr>
          <p:cNvPr id="10" name="Shape 8"/>
          <p:cNvSpPr/>
          <p:nvPr/>
        </p:nvSpPr>
        <p:spPr>
          <a:xfrm>
            <a:off x="2660904" y="5394960"/>
            <a:ext cx="1719072"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660904" y="5394960"/>
            <a:ext cx="1719072"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GPT=디코더만</a:t>
            </a:r>
            <a:endParaRPr lang="en-US" sz="1200" dirty="0"/>
          </a:p>
        </p:txBody>
      </p:sp>
      <p:sp>
        <p:nvSpPr>
          <p:cNvPr id="12" name="Shape 10"/>
          <p:cNvSpPr/>
          <p:nvPr/>
        </p:nvSpPr>
        <p:spPr>
          <a:xfrm>
            <a:off x="4599432" y="5394960"/>
            <a:ext cx="2185416" cy="402336"/>
          </a:xfrm>
          <a:prstGeom prst="roundRect">
            <a:avLst>
              <a:gd name="adj" fmla="val 50000"/>
            </a:avLst>
          </a:prstGeom>
          <a:solidFill>
            <a:srgbClr val="FBE7E8"/>
          </a:solidFill>
          <a:ln w="9525">
            <a:solidFill>
              <a:srgbClr val="CE1225"/>
            </a:solidFill>
            <a:prstDash val="solid"/>
          </a:ln>
        </p:spPr>
      </p:sp>
      <p:sp>
        <p:nvSpPr>
          <p:cNvPr id="13" name="Text 11"/>
          <p:cNvSpPr/>
          <p:nvPr/>
        </p:nvSpPr>
        <p:spPr>
          <a:xfrm>
            <a:off x="4599432" y="5394960"/>
            <a:ext cx="2185416"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같은 재료 다른 조합</a:t>
            </a:r>
            <a:endParaRPr lang="en-US" sz="1200" dirty="0"/>
          </a:p>
        </p:txBody>
      </p:sp>
      <p:sp>
        <p:nvSpPr>
          <p:cNvPr id="14" name="Text 1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Q18</a:t>
            </a:r>
            <a:endParaRPr lang="en-US" sz="950" dirty="0"/>
          </a:p>
        </p:txBody>
      </p:sp>
      <p:sp>
        <p:nvSpPr>
          <p:cNvPr id="15" name="Text 1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Q19 · 보충 심화 · PART 3</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RoPE 말고 다른 위치 인코딩 방식도 있나요? 서로 뭐가 달라요?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크게 네 갈래입니다. Sinusoidal은 원조 트랜스포머의 학습하지 않는 고정 사인·코사인 신호. Learned는 위치마다 벡터를 직접 학습하지만 학습한 최대 길이 밖에서 불안정. RoPE는 벡터를 회전시켜 상대 거리를 반영. ALiBi는 위치 벡터 없이 멀수록 점수에 페널티를 줘, 학습보다 긴 문장 확장에 특히 유리합니다.</a:t>
            </a:r>
            <a:endParaRPr lang="en-US" sz="1600" dirty="0"/>
          </a:p>
        </p:txBody>
      </p:sp>
      <p:sp>
        <p:nvSpPr>
          <p:cNvPr id="8" name="Shape 6"/>
          <p:cNvSpPr/>
          <p:nvPr/>
        </p:nvSpPr>
        <p:spPr>
          <a:xfrm>
            <a:off x="566928" y="5394960"/>
            <a:ext cx="2496312"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2496312"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Sinusoidal=고정</a:t>
            </a:r>
            <a:endParaRPr lang="en-US" sz="1200" dirty="0"/>
          </a:p>
        </p:txBody>
      </p:sp>
      <p:sp>
        <p:nvSpPr>
          <p:cNvPr id="10" name="Shape 8"/>
          <p:cNvSpPr/>
          <p:nvPr/>
        </p:nvSpPr>
        <p:spPr>
          <a:xfrm>
            <a:off x="3282696" y="5394960"/>
            <a:ext cx="2185416"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3282696" y="5394960"/>
            <a:ext cx="2185416"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Learned=학습형</a:t>
            </a:r>
            <a:endParaRPr lang="en-US" sz="1200" dirty="0"/>
          </a:p>
        </p:txBody>
      </p:sp>
      <p:sp>
        <p:nvSpPr>
          <p:cNvPr id="12" name="Shape 10"/>
          <p:cNvSpPr/>
          <p:nvPr/>
        </p:nvSpPr>
        <p:spPr>
          <a:xfrm>
            <a:off x="5687568" y="5394960"/>
            <a:ext cx="2340864" cy="402336"/>
          </a:xfrm>
          <a:prstGeom prst="roundRect">
            <a:avLst>
              <a:gd name="adj" fmla="val 50000"/>
            </a:avLst>
          </a:prstGeom>
          <a:solidFill>
            <a:srgbClr val="FBE7E8"/>
          </a:solidFill>
          <a:ln w="9525">
            <a:solidFill>
              <a:srgbClr val="CE1225"/>
            </a:solidFill>
            <a:prstDash val="solid"/>
          </a:ln>
        </p:spPr>
      </p:sp>
      <p:sp>
        <p:nvSpPr>
          <p:cNvPr id="13" name="Text 11"/>
          <p:cNvSpPr/>
          <p:nvPr/>
        </p:nvSpPr>
        <p:spPr>
          <a:xfrm>
            <a:off x="5687568" y="5394960"/>
            <a:ext cx="2340864"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ALiBi=거리 페널티</a:t>
            </a:r>
            <a:endParaRPr lang="en-US" sz="1200" dirty="0"/>
          </a:p>
        </p:txBody>
      </p:sp>
      <p:sp>
        <p:nvSpPr>
          <p:cNvPr id="14" name="Text 12"/>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Q19</a:t>
            </a:r>
            <a:endParaRPr lang="en-US" sz="950" dirty="0"/>
          </a:p>
        </p:txBody>
      </p:sp>
      <p:sp>
        <p:nvSpPr>
          <p:cNvPr id="15" name="Text 13"/>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CFBF9"/>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E1225"/>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CE1225"/>
                </a:solidFill>
                <a:latin typeface="Noto Sans KR" pitchFamily="34" charset="0"/>
                <a:ea typeface="Noto Sans KR" pitchFamily="34" charset="-122"/>
                <a:cs typeface="Noto Sans KR" pitchFamily="34" charset="-120"/>
              </a:rPr>
              <a:t>Q20 · 보충 심화 · PART 3</a:t>
            </a:r>
            <a:endParaRPr lang="en-US" sz="1150" dirty="0"/>
          </a:p>
        </p:txBody>
      </p:sp>
      <p:sp>
        <p:nvSpPr>
          <p:cNvPr id="4" name="Shape 2"/>
          <p:cNvSpPr/>
          <p:nvPr/>
        </p:nvSpPr>
        <p:spPr>
          <a:xfrm>
            <a:off x="566928" y="566928"/>
            <a:ext cx="118872" cy="118872"/>
          </a:xfrm>
          <a:prstGeom prst="rect">
            <a:avLst/>
          </a:prstGeom>
          <a:solidFill>
            <a:srgbClr val="CE1225"/>
          </a:solidFill>
          <a:ln/>
        </p:spPr>
      </p:sp>
      <p:sp>
        <p:nvSpPr>
          <p:cNvPr id="5" name="Text 3"/>
          <p:cNvSpPr/>
          <p:nvPr/>
        </p:nvSpPr>
        <p:spPr>
          <a:xfrm>
            <a:off x="566928" y="914400"/>
            <a:ext cx="11064240" cy="960120"/>
          </a:xfrm>
          <a:prstGeom prst="rect">
            <a:avLst/>
          </a:prstGeom>
          <a:noFill/>
          <a:ln/>
        </p:spPr>
        <p:txBody>
          <a:bodyPr wrap="square" rtlCol="0" anchor="t"/>
          <a:lstStyle/>
          <a:p>
            <a:pPr indent="0" marL="0">
              <a:lnSpc>
                <a:spcPts val="2900"/>
              </a:lnSpc>
              <a:buNone/>
            </a:pPr>
            <a:r>
              <a:rPr lang="en-US" sz="2300" b="1" dirty="0">
                <a:solidFill>
                  <a:srgbClr val="1A1813"/>
                </a:solidFill>
                <a:latin typeface="Noto Sans KR" pitchFamily="34" charset="0"/>
                <a:ea typeface="Noto Sans KR" pitchFamily="34" charset="-122"/>
                <a:cs typeface="Noto Sans KR" pitchFamily="34" charset="-120"/>
              </a:rPr>
              <a:t>CNN은 왜 이미지에 강했고, Attention은 그것과 근본적으로 뭐가 달라요?</a:t>
            </a:r>
            <a:endParaRPr lang="en-US" sz="2300" dirty="0"/>
          </a:p>
        </p:txBody>
      </p:sp>
      <p:sp>
        <p:nvSpPr>
          <p:cNvPr id="6" name="Text 4"/>
          <p:cNvSpPr/>
          <p:nvPr/>
        </p:nvSpPr>
        <p:spPr>
          <a:xfrm>
            <a:off x="566928" y="2011680"/>
            <a:ext cx="457200" cy="365760"/>
          </a:xfrm>
          <a:prstGeom prst="rect">
            <a:avLst/>
          </a:prstGeom>
          <a:noFill/>
          <a:ln/>
        </p:spPr>
        <p:txBody>
          <a:bodyPr wrap="square" rtlCol="0" anchor="ctr"/>
          <a:lstStyle/>
          <a:p>
            <a:pPr indent="0" marL="0">
              <a:buNone/>
            </a:pPr>
            <a:r>
              <a:rPr lang="en-US" sz="1800" b="1" dirty="0">
                <a:solidFill>
                  <a:srgbClr val="CE1225"/>
                </a:solidFill>
                <a:latin typeface="Noto Sans KR" pitchFamily="34" charset="0"/>
                <a:ea typeface="Noto Sans KR" pitchFamily="34" charset="-122"/>
                <a:cs typeface="Noto Sans KR" pitchFamily="34" charset="-120"/>
              </a:rPr>
              <a:t>A</a:t>
            </a:r>
            <a:endParaRPr lang="en-US" sz="1800" dirty="0"/>
          </a:p>
        </p:txBody>
      </p:sp>
      <p:sp>
        <p:nvSpPr>
          <p:cNvPr id="7" name="Text 5"/>
          <p:cNvSpPr/>
          <p:nvPr/>
        </p:nvSpPr>
        <p:spPr>
          <a:xfrm>
            <a:off x="1024128" y="2011680"/>
            <a:ext cx="10607040" cy="3063240"/>
          </a:xfrm>
          <a:prstGeom prst="rect">
            <a:avLst/>
          </a:prstGeom>
          <a:noFill/>
          <a:ln/>
        </p:spPr>
        <p:txBody>
          <a:bodyPr wrap="square" rtlCol="0" anchor="t"/>
          <a:lstStyle/>
          <a:p>
            <a:pPr indent="0" marL="0">
              <a:lnSpc>
                <a:spcPts val="2500"/>
              </a:lnSpc>
              <a:buNone/>
            </a:pPr>
            <a:r>
              <a:rPr lang="en-US" sz="1600" dirty="0">
                <a:solidFill>
                  <a:srgbClr val="575249"/>
                </a:solidFill>
                <a:latin typeface="Noto Sans KR" pitchFamily="34" charset="0"/>
                <a:ea typeface="Noto Sans KR" pitchFamily="34" charset="-122"/>
                <a:cs typeface="Noto Sans KR" pitchFamily="34" charset="-120"/>
              </a:rPr>
              <a:t>CNN은 작은 필터가 이웃한 픽셀들, 즉 ‘국소적인’ 패턴을 층층이 쌓아 시각 정보를 이해합니다. 반면 Attention은 처음부터 모든 조각(토큰이든 이미지 패치든)이 서로를 동시에, 전역적으로 참고합니다. 이 ‘국소성 대 전역성’의 차이 덕분에 언어에서 태어난 attention이 이미지 문제에도 똑같이 통했습니다.</a:t>
            </a:r>
            <a:endParaRPr lang="en-US" sz="1600" dirty="0"/>
          </a:p>
        </p:txBody>
      </p:sp>
      <p:sp>
        <p:nvSpPr>
          <p:cNvPr id="8" name="Shape 6"/>
          <p:cNvSpPr/>
          <p:nvPr/>
        </p:nvSpPr>
        <p:spPr>
          <a:xfrm>
            <a:off x="566928" y="5394960"/>
            <a:ext cx="1563624" cy="402336"/>
          </a:xfrm>
          <a:prstGeom prst="roundRect">
            <a:avLst>
              <a:gd name="adj" fmla="val 50000"/>
            </a:avLst>
          </a:prstGeom>
          <a:solidFill>
            <a:srgbClr val="FBE7E8"/>
          </a:solidFill>
          <a:ln w="9525">
            <a:solidFill>
              <a:srgbClr val="CE1225"/>
            </a:solidFill>
            <a:prstDash val="solid"/>
          </a:ln>
        </p:spPr>
      </p:sp>
      <p:sp>
        <p:nvSpPr>
          <p:cNvPr id="9" name="Text 7"/>
          <p:cNvSpPr/>
          <p:nvPr/>
        </p:nvSpPr>
        <p:spPr>
          <a:xfrm>
            <a:off x="566928" y="5394960"/>
            <a:ext cx="1563624"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CNN=국소적</a:t>
            </a:r>
            <a:endParaRPr lang="en-US" sz="1200" dirty="0"/>
          </a:p>
        </p:txBody>
      </p:sp>
      <p:sp>
        <p:nvSpPr>
          <p:cNvPr id="10" name="Shape 8"/>
          <p:cNvSpPr/>
          <p:nvPr/>
        </p:nvSpPr>
        <p:spPr>
          <a:xfrm>
            <a:off x="2350008" y="5394960"/>
            <a:ext cx="2962656" cy="402336"/>
          </a:xfrm>
          <a:prstGeom prst="roundRect">
            <a:avLst>
              <a:gd name="adj" fmla="val 50000"/>
            </a:avLst>
          </a:prstGeom>
          <a:solidFill>
            <a:srgbClr val="FBE7E8"/>
          </a:solidFill>
          <a:ln w="9525">
            <a:solidFill>
              <a:srgbClr val="CE1225"/>
            </a:solidFill>
            <a:prstDash val="solid"/>
          </a:ln>
        </p:spPr>
      </p:sp>
      <p:sp>
        <p:nvSpPr>
          <p:cNvPr id="11" name="Text 9"/>
          <p:cNvSpPr/>
          <p:nvPr/>
        </p:nvSpPr>
        <p:spPr>
          <a:xfrm>
            <a:off x="2350008" y="5394960"/>
            <a:ext cx="2962656" cy="402336"/>
          </a:xfrm>
          <a:prstGeom prst="rect">
            <a:avLst/>
          </a:prstGeom>
          <a:noFill/>
          <a:ln/>
        </p:spPr>
        <p:txBody>
          <a:bodyPr wrap="square" rtlCol="0" anchor="ctr"/>
          <a:lstStyle/>
          <a:p>
            <a:pPr algn="ctr" indent="0" marL="0">
              <a:buNone/>
            </a:pPr>
            <a:r>
              <a:rPr lang="en-US" sz="1200" b="1" dirty="0">
                <a:solidFill>
                  <a:srgbClr val="9E0E1C"/>
                </a:solidFill>
                <a:latin typeface="Noto Sans KR" pitchFamily="34" charset="0"/>
                <a:ea typeface="Noto Sans KR" pitchFamily="34" charset="-122"/>
                <a:cs typeface="Noto Sans KR" pitchFamily="34" charset="-120"/>
              </a:rPr>
              <a:t>Attention=전역적 동시</a:t>
            </a:r>
            <a:endParaRPr lang="en-US" sz="1200" dirty="0"/>
          </a:p>
        </p:txBody>
      </p:sp>
      <p:sp>
        <p:nvSpPr>
          <p:cNvPr id="12" name="Text 10"/>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8B8578"/>
                </a:solidFill>
                <a:latin typeface="Noto Sans KR" pitchFamily="34" charset="0"/>
                <a:ea typeface="Noto Sans KR" pitchFamily="34" charset="-122"/>
                <a:cs typeface="Noto Sans KR" pitchFamily="34" charset="-120"/>
              </a:rPr>
              <a:t>예상질문 · Q20</a:t>
            </a:r>
            <a:endParaRPr lang="en-US" sz="950" dirty="0"/>
          </a:p>
        </p:txBody>
      </p:sp>
      <p:sp>
        <p:nvSpPr>
          <p:cNvPr id="13" name="Text 11"/>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CE1225"/>
                </a:solidFill>
                <a:latin typeface="Noto Sans KR" pitchFamily="34" charset="0"/>
                <a:ea typeface="Noto Sans KR" pitchFamily="34" charset="-122"/>
                <a:cs typeface="Noto Sans K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A1813"/>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FF6B74"/>
          </a:solidFill>
          <a:ln/>
        </p:spPr>
      </p:sp>
      <p:sp>
        <p:nvSpPr>
          <p:cNvPr id="3" name="Text 1"/>
          <p:cNvSpPr/>
          <p:nvPr/>
        </p:nvSpPr>
        <p:spPr>
          <a:xfrm>
            <a:off x="813816" y="457200"/>
            <a:ext cx="10424160" cy="292608"/>
          </a:xfrm>
          <a:prstGeom prst="rect">
            <a:avLst/>
          </a:prstGeom>
          <a:noFill/>
          <a:ln/>
        </p:spPr>
        <p:txBody>
          <a:bodyPr wrap="square" rtlCol="0" anchor="ctr"/>
          <a:lstStyle/>
          <a:p>
            <a:pPr indent="0" marL="0">
              <a:buNone/>
            </a:pPr>
            <a:r>
              <a:rPr lang="en-US" sz="1150" b="1" spc="300" kern="0" dirty="0">
                <a:solidFill>
                  <a:srgbClr val="FF6B74"/>
                </a:solidFill>
                <a:latin typeface="Noto Sans KR" pitchFamily="34" charset="0"/>
                <a:ea typeface="Noto Sans KR" pitchFamily="34" charset="-122"/>
                <a:cs typeface="Noto Sans KR" pitchFamily="34" charset="-120"/>
              </a:rPr>
              <a:t>티처팀 · 발표를 마치며</a:t>
            </a:r>
            <a:endParaRPr lang="en-US" sz="1150" dirty="0"/>
          </a:p>
        </p:txBody>
      </p:sp>
      <p:sp>
        <p:nvSpPr>
          <p:cNvPr id="4" name="Text 2"/>
          <p:cNvSpPr/>
          <p:nvPr/>
        </p:nvSpPr>
        <p:spPr>
          <a:xfrm>
            <a:off x="566928" y="2286000"/>
            <a:ext cx="10972800" cy="1280160"/>
          </a:xfrm>
          <a:prstGeom prst="rect">
            <a:avLst/>
          </a:prstGeom>
          <a:noFill/>
          <a:ln/>
        </p:spPr>
        <p:txBody>
          <a:bodyPr wrap="square" rtlCol="0" anchor="ctr"/>
          <a:lstStyle/>
          <a:p>
            <a:pPr indent="0" marL="0">
              <a:buNone/>
            </a:pPr>
            <a:r>
              <a:rPr lang="en-US" sz="6400" b="1" dirty="0">
                <a:solidFill>
                  <a:srgbClr val="FFFFFF"/>
                </a:solidFill>
                <a:latin typeface="Noto Sans KR" pitchFamily="34" charset="0"/>
                <a:ea typeface="Noto Sans KR" pitchFamily="34" charset="-122"/>
                <a:cs typeface="Noto Sans KR" pitchFamily="34" charset="-120"/>
              </a:rPr>
              <a:t>감사합니다</a:t>
            </a:r>
            <a:endParaRPr lang="en-US" sz="6400" dirty="0"/>
          </a:p>
        </p:txBody>
      </p:sp>
      <p:sp>
        <p:nvSpPr>
          <p:cNvPr id="5" name="Text 3"/>
          <p:cNvSpPr/>
          <p:nvPr/>
        </p:nvSpPr>
        <p:spPr>
          <a:xfrm>
            <a:off x="566928" y="3657600"/>
            <a:ext cx="10972800" cy="548640"/>
          </a:xfrm>
          <a:prstGeom prst="rect">
            <a:avLst/>
          </a:prstGeom>
          <a:noFill/>
          <a:ln/>
        </p:spPr>
        <p:txBody>
          <a:bodyPr wrap="square" rtlCol="0" anchor="ctr"/>
          <a:lstStyle/>
          <a:p>
            <a:pPr indent="0" marL="0">
              <a:buNone/>
            </a:pPr>
            <a:r>
              <a:rPr lang="en-US" sz="2400" b="1" spc="300" kern="0" dirty="0">
                <a:solidFill>
                  <a:srgbClr val="FF6B74"/>
                </a:solidFill>
                <a:latin typeface="Noto Sans KR" pitchFamily="34" charset="0"/>
                <a:ea typeface="Noto Sans KR" pitchFamily="34" charset="-122"/>
                <a:cs typeface="Noto Sans KR" pitchFamily="34" charset="-120"/>
              </a:rPr>
              <a:t>Q &amp; A</a:t>
            </a:r>
            <a:endParaRPr lang="en-US" sz="2400" dirty="0"/>
          </a:p>
        </p:txBody>
      </p:sp>
      <p:sp>
        <p:nvSpPr>
          <p:cNvPr id="6" name="Text 4"/>
          <p:cNvSpPr/>
          <p:nvPr/>
        </p:nvSpPr>
        <p:spPr>
          <a:xfrm>
            <a:off x="566928" y="4572000"/>
            <a:ext cx="10972800" cy="365760"/>
          </a:xfrm>
          <a:prstGeom prst="rect">
            <a:avLst/>
          </a:prstGeom>
          <a:noFill/>
          <a:ln/>
        </p:spPr>
        <p:txBody>
          <a:bodyPr wrap="square" rtlCol="0" anchor="ctr"/>
          <a:lstStyle/>
          <a:p>
            <a:pPr indent="0" marL="0">
              <a:buNone/>
            </a:pPr>
            <a:r>
              <a:rPr lang="en-US" sz="1300" dirty="0">
                <a:solidFill>
                  <a:srgbClr val="C9C3B8"/>
                </a:solidFill>
                <a:latin typeface="Noto Sans KR" pitchFamily="34" charset="0"/>
                <a:ea typeface="Noto Sans KR" pitchFamily="34" charset="-122"/>
                <a:cs typeface="Noto Sans KR" pitchFamily="34" charset="-120"/>
              </a:rPr>
              <a:t>Part 1 등장·순차의 벽·병렬   ·   Part 2 어텐션·Q·K·V·멀티헤드·causal   ·   Part 3 KV cache·위치 인코딩·비전 합류</a:t>
            </a:r>
            <a:endParaRPr lang="en-US" sz="1300" dirty="0"/>
          </a:p>
        </p:txBody>
      </p:sp>
      <p:sp>
        <p:nvSpPr>
          <p:cNvPr id="7" name="Text 5"/>
          <p:cNvSpPr/>
          <p:nvPr/>
        </p:nvSpPr>
        <p:spPr>
          <a:xfrm>
            <a:off x="566928" y="6446520"/>
            <a:ext cx="9692640" cy="274320"/>
          </a:xfrm>
          <a:prstGeom prst="rect">
            <a:avLst/>
          </a:prstGeom>
          <a:noFill/>
          <a:ln/>
        </p:spPr>
        <p:txBody>
          <a:bodyPr wrap="square" rtlCol="0" anchor="ctr"/>
          <a:lstStyle/>
          <a:p>
            <a:pPr indent="0" marL="0">
              <a:buNone/>
            </a:pPr>
            <a:r>
              <a:rPr lang="en-US" sz="950" spc="120" kern="0" dirty="0">
                <a:solidFill>
                  <a:srgbClr val="6E6A62"/>
                </a:solidFill>
                <a:latin typeface="Noto Sans KR" pitchFamily="34" charset="0"/>
                <a:ea typeface="Noto Sans KR" pitchFamily="34" charset="-122"/>
                <a:cs typeface="Noto Sans KR" pitchFamily="34" charset="-120"/>
              </a:rPr>
              <a:t>어느 파트든 질문 환영 · 예상질문 준비됨</a:t>
            </a:r>
            <a:endParaRPr lang="en-US" sz="950" dirty="0"/>
          </a:p>
        </p:txBody>
      </p:sp>
      <p:sp>
        <p:nvSpPr>
          <p:cNvPr id="8" name="Text 6"/>
          <p:cNvSpPr/>
          <p:nvPr/>
        </p:nvSpPr>
        <p:spPr>
          <a:xfrm>
            <a:off x="11137392" y="6382512"/>
            <a:ext cx="475488" cy="320040"/>
          </a:xfrm>
          <a:prstGeom prst="rect">
            <a:avLst/>
          </a:prstGeom>
          <a:noFill/>
          <a:ln/>
        </p:spPr>
        <p:txBody>
          <a:bodyPr wrap="square" rtlCol="0" anchor="ctr"/>
          <a:lstStyle/>
          <a:p>
            <a:pPr algn="r" indent="0" marL="0">
              <a:buNone/>
            </a:pPr>
            <a:r>
              <a:rPr lang="en-US" sz="1200" b="1" dirty="0">
                <a:solidFill>
                  <a:srgbClr val="FF6B74"/>
                </a:solidFill>
                <a:latin typeface="Noto Sans KR" pitchFamily="34" charset="0"/>
                <a:ea typeface="Noto Sans KR" pitchFamily="34" charset="-122"/>
                <a:cs typeface="Noto Sans KR" pitchFamily="34" charset="-120"/>
              </a:rPr>
              <a:t>48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2026-07-27T17:31:58Z</dcterms:created>
  <dcterms:modified xsi:type="dcterms:W3CDTF">2026-07-27T17:31:58Z</dcterms:modified>
</cp:coreProperties>
</file>